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604534B-8652-4E4B-845C-0DB6DE981D02}" v="6" dt="2026-10-12T20:04:46.78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90" d="100"/>
          <a:sy n="90" d="100"/>
        </p:scale>
        <p:origin x="370" y="67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12" Type="http://schemas.microsoft.com/office/2015/10/relationships/revisionInfo" Target="revisionInfo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microsoft.com/office/2016/11/relationships/changesInfo" Target="changesInfos/changesInfo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kinlolu Oyetakin" userId="fa5cef570f93ac02" providerId="LiveId" clId="{78872068-8B10-4F26-BF97-C82E0CEFE7C4}"/>
    <pc:docChg chg="undo custSel modSld">
      <pc:chgData name="Akinlolu Oyetakin" userId="fa5cef570f93ac02" providerId="LiveId" clId="{78872068-8B10-4F26-BF97-C82E0CEFE7C4}" dt="2026-10-12T20:04:56.113" v="529" actId="1076"/>
      <pc:docMkLst>
        <pc:docMk/>
      </pc:docMkLst>
      <pc:sldChg chg="addSp modSp mod">
        <pc:chgData name="Akinlolu Oyetakin" userId="fa5cef570f93ac02" providerId="LiveId" clId="{78872068-8B10-4F26-BF97-C82E0CEFE7C4}" dt="2026-10-12T09:57:19.011" v="2" actId="20577"/>
        <pc:sldMkLst>
          <pc:docMk/>
          <pc:sldMk cId="0" sldId="257"/>
        </pc:sldMkLst>
        <pc:spChg chg="add mod">
          <ac:chgData name="Akinlolu Oyetakin" userId="fa5cef570f93ac02" providerId="LiveId" clId="{78872068-8B10-4F26-BF97-C82E0CEFE7C4}" dt="2026-10-12T09:57:19.011" v="2" actId="20577"/>
          <ac:spMkLst>
            <pc:docMk/>
            <pc:sldMk cId="0" sldId="257"/>
            <ac:spMk id="24" creationId="{9DB2A91B-E53E-AFD3-04BF-9E87B3029AE2}"/>
          </ac:spMkLst>
        </pc:spChg>
      </pc:sldChg>
      <pc:sldChg chg="modSp mod">
        <pc:chgData name="Akinlolu Oyetakin" userId="fa5cef570f93ac02" providerId="LiveId" clId="{78872068-8B10-4F26-BF97-C82E0CEFE7C4}" dt="2026-10-12T19:31:17.630" v="163" actId="33524"/>
        <pc:sldMkLst>
          <pc:docMk/>
          <pc:sldMk cId="0" sldId="258"/>
        </pc:sldMkLst>
        <pc:spChg chg="mod">
          <ac:chgData name="Akinlolu Oyetakin" userId="fa5cef570f93ac02" providerId="LiveId" clId="{78872068-8B10-4F26-BF97-C82E0CEFE7C4}" dt="2026-10-12T09:57:38.225" v="4" actId="20577"/>
          <ac:spMkLst>
            <pc:docMk/>
            <pc:sldMk cId="0" sldId="258"/>
            <ac:spMk id="11" creationId="{00000000-0000-0000-0000-000000000000}"/>
          </ac:spMkLst>
        </pc:spChg>
        <pc:spChg chg="mod">
          <ac:chgData name="Akinlolu Oyetakin" userId="fa5cef570f93ac02" providerId="LiveId" clId="{78872068-8B10-4F26-BF97-C82E0CEFE7C4}" dt="2026-10-12T19:31:17.630" v="163" actId="33524"/>
          <ac:spMkLst>
            <pc:docMk/>
            <pc:sldMk cId="0" sldId="258"/>
            <ac:spMk id="19" creationId="{00000000-0000-0000-0000-000000000000}"/>
          </ac:spMkLst>
        </pc:spChg>
      </pc:sldChg>
      <pc:sldChg chg="delSp modSp mod">
        <pc:chgData name="Akinlolu Oyetakin" userId="fa5cef570f93ac02" providerId="LiveId" clId="{78872068-8B10-4F26-BF97-C82E0CEFE7C4}" dt="2026-10-12T19:55:19.651" v="475" actId="1076"/>
        <pc:sldMkLst>
          <pc:docMk/>
          <pc:sldMk cId="0" sldId="259"/>
        </pc:sldMkLst>
        <pc:spChg chg="mod">
          <ac:chgData name="Akinlolu Oyetakin" userId="fa5cef570f93ac02" providerId="LiveId" clId="{78872068-8B10-4F26-BF97-C82E0CEFE7C4}" dt="2026-10-12T19:33:09.320" v="185" actId="20577"/>
          <ac:spMkLst>
            <pc:docMk/>
            <pc:sldMk cId="0" sldId="259"/>
            <ac:spMk id="7" creationId="{00000000-0000-0000-0000-000000000000}"/>
          </ac:spMkLst>
        </pc:spChg>
        <pc:spChg chg="mod">
          <ac:chgData name="Akinlolu Oyetakin" userId="fa5cef570f93ac02" providerId="LiveId" clId="{78872068-8B10-4F26-BF97-C82E0CEFE7C4}" dt="2026-10-12T19:54:21.625" v="433" actId="1076"/>
          <ac:spMkLst>
            <pc:docMk/>
            <pc:sldMk cId="0" sldId="259"/>
            <ac:spMk id="10" creationId="{00000000-0000-0000-0000-000000000000}"/>
          </ac:spMkLst>
        </pc:spChg>
        <pc:spChg chg="mod">
          <ac:chgData name="Akinlolu Oyetakin" userId="fa5cef570f93ac02" providerId="LiveId" clId="{78872068-8B10-4F26-BF97-C82E0CEFE7C4}" dt="2026-10-12T19:55:19.651" v="475" actId="1076"/>
          <ac:spMkLst>
            <pc:docMk/>
            <pc:sldMk cId="0" sldId="259"/>
            <ac:spMk id="11" creationId="{00000000-0000-0000-0000-000000000000}"/>
          </ac:spMkLst>
        </pc:spChg>
        <pc:spChg chg="del mod">
          <ac:chgData name="Akinlolu Oyetakin" userId="fa5cef570f93ac02" providerId="LiveId" clId="{78872068-8B10-4F26-BF97-C82E0CEFE7C4}" dt="2026-10-12T19:55:13.120" v="474" actId="478"/>
          <ac:spMkLst>
            <pc:docMk/>
            <pc:sldMk cId="0" sldId="259"/>
            <ac:spMk id="12" creationId="{00000000-0000-0000-0000-000000000000}"/>
          </ac:spMkLst>
        </pc:spChg>
        <pc:spChg chg="del">
          <ac:chgData name="Akinlolu Oyetakin" userId="fa5cef570f93ac02" providerId="LiveId" clId="{78872068-8B10-4F26-BF97-C82E0CEFE7C4}" dt="2026-10-12T19:54:12.621" v="431" actId="478"/>
          <ac:spMkLst>
            <pc:docMk/>
            <pc:sldMk cId="0" sldId="259"/>
            <ac:spMk id="13" creationId="{00000000-0000-0000-0000-000000000000}"/>
          </ac:spMkLst>
        </pc:spChg>
        <pc:spChg chg="del">
          <ac:chgData name="Akinlolu Oyetakin" userId="fa5cef570f93ac02" providerId="LiveId" clId="{78872068-8B10-4F26-BF97-C82E0CEFE7C4}" dt="2026-10-12T19:54:16.631" v="432" actId="478"/>
          <ac:spMkLst>
            <pc:docMk/>
            <pc:sldMk cId="0" sldId="259"/>
            <ac:spMk id="14" creationId="{00000000-0000-0000-0000-000000000000}"/>
          </ac:spMkLst>
        </pc:spChg>
        <pc:graphicFrameChg chg="mod modGraphic">
          <ac:chgData name="Akinlolu Oyetakin" userId="fa5cef570f93ac02" providerId="LiveId" clId="{78872068-8B10-4F26-BF97-C82E0CEFE7C4}" dt="2026-10-12T19:53:14.326" v="430" actId="20577"/>
          <ac:graphicFrameMkLst>
            <pc:docMk/>
            <pc:sldMk cId="0" sldId="259"/>
            <ac:graphicFrameMk id="9" creationId="{00000000-0000-0000-0000-000000000000}"/>
          </ac:graphicFrameMkLst>
        </pc:graphicFrameChg>
      </pc:sldChg>
      <pc:sldChg chg="delSp modSp mod">
        <pc:chgData name="Akinlolu Oyetakin" userId="fa5cef570f93ac02" providerId="LiveId" clId="{78872068-8B10-4F26-BF97-C82E0CEFE7C4}" dt="2026-10-12T20:04:56.113" v="529" actId="1076"/>
        <pc:sldMkLst>
          <pc:docMk/>
          <pc:sldMk cId="0" sldId="260"/>
        </pc:sldMkLst>
        <pc:spChg chg="mod">
          <ac:chgData name="Akinlolu Oyetakin" userId="fa5cef570f93ac02" providerId="LiveId" clId="{78872068-8B10-4F26-BF97-C82E0CEFE7C4}" dt="2026-10-12T19:59:58.443" v="496" actId="1076"/>
          <ac:spMkLst>
            <pc:docMk/>
            <pc:sldMk cId="0" sldId="260"/>
            <ac:spMk id="5" creationId="{00000000-0000-0000-0000-000000000000}"/>
          </ac:spMkLst>
        </pc:spChg>
        <pc:spChg chg="mod">
          <ac:chgData name="Akinlolu Oyetakin" userId="fa5cef570f93ac02" providerId="LiveId" clId="{78872068-8B10-4F26-BF97-C82E0CEFE7C4}" dt="2026-10-12T20:00:09.061" v="498" actId="1076"/>
          <ac:spMkLst>
            <pc:docMk/>
            <pc:sldMk cId="0" sldId="260"/>
            <ac:spMk id="6" creationId="{00000000-0000-0000-0000-000000000000}"/>
          </ac:spMkLst>
        </pc:spChg>
        <pc:spChg chg="mod">
          <ac:chgData name="Akinlolu Oyetakin" userId="fa5cef570f93ac02" providerId="LiveId" clId="{78872068-8B10-4F26-BF97-C82E0CEFE7C4}" dt="2026-10-12T20:00:18.931" v="500" actId="1076"/>
          <ac:spMkLst>
            <pc:docMk/>
            <pc:sldMk cId="0" sldId="260"/>
            <ac:spMk id="7" creationId="{00000000-0000-0000-0000-000000000000}"/>
          </ac:spMkLst>
        </pc:spChg>
        <pc:spChg chg="del">
          <ac:chgData name="Akinlolu Oyetakin" userId="fa5cef570f93ac02" providerId="LiveId" clId="{78872068-8B10-4F26-BF97-C82E0CEFE7C4}" dt="2026-10-12T19:57:27.975" v="476" actId="478"/>
          <ac:spMkLst>
            <pc:docMk/>
            <pc:sldMk cId="0" sldId="260"/>
            <ac:spMk id="8" creationId="{00000000-0000-0000-0000-000000000000}"/>
          </ac:spMkLst>
        </pc:spChg>
        <pc:spChg chg="mod">
          <ac:chgData name="Akinlolu Oyetakin" userId="fa5cef570f93ac02" providerId="LiveId" clId="{78872068-8B10-4F26-BF97-C82E0CEFE7C4}" dt="2026-10-12T20:00:14.825" v="499" actId="1076"/>
          <ac:spMkLst>
            <pc:docMk/>
            <pc:sldMk cId="0" sldId="260"/>
            <ac:spMk id="9" creationId="{00000000-0000-0000-0000-000000000000}"/>
          </ac:spMkLst>
        </pc:spChg>
        <pc:spChg chg="del">
          <ac:chgData name="Akinlolu Oyetakin" userId="fa5cef570f93ac02" providerId="LiveId" clId="{78872068-8B10-4F26-BF97-C82E0CEFE7C4}" dt="2026-10-12T20:02:26.263" v="501" actId="478"/>
          <ac:spMkLst>
            <pc:docMk/>
            <pc:sldMk cId="0" sldId="260"/>
            <ac:spMk id="13" creationId="{00000000-0000-0000-0000-000000000000}"/>
          </ac:spMkLst>
        </pc:spChg>
        <pc:spChg chg="mod">
          <ac:chgData name="Akinlolu Oyetakin" userId="fa5cef570f93ac02" providerId="LiveId" clId="{78872068-8B10-4F26-BF97-C82E0CEFE7C4}" dt="2026-10-12T20:04:11.251" v="522" actId="1076"/>
          <ac:spMkLst>
            <pc:docMk/>
            <pc:sldMk cId="0" sldId="260"/>
            <ac:spMk id="14" creationId="{00000000-0000-0000-0000-000000000000}"/>
          </ac:spMkLst>
        </pc:spChg>
        <pc:spChg chg="del">
          <ac:chgData name="Akinlolu Oyetakin" userId="fa5cef570f93ac02" providerId="LiveId" clId="{78872068-8B10-4F26-BF97-C82E0CEFE7C4}" dt="2026-10-12T20:03:01.944" v="506" actId="478"/>
          <ac:spMkLst>
            <pc:docMk/>
            <pc:sldMk cId="0" sldId="260"/>
            <ac:spMk id="17" creationId="{00000000-0000-0000-0000-000000000000}"/>
          </ac:spMkLst>
        </pc:spChg>
        <pc:spChg chg="mod">
          <ac:chgData name="Akinlolu Oyetakin" userId="fa5cef570f93ac02" providerId="LiveId" clId="{78872068-8B10-4F26-BF97-C82E0CEFE7C4}" dt="2026-10-12T20:03:27.487" v="513" actId="404"/>
          <ac:spMkLst>
            <pc:docMk/>
            <pc:sldMk cId="0" sldId="260"/>
            <ac:spMk id="18" creationId="{00000000-0000-0000-0000-000000000000}"/>
          </ac:spMkLst>
        </pc:spChg>
        <pc:spChg chg="del">
          <ac:chgData name="Akinlolu Oyetakin" userId="fa5cef570f93ac02" providerId="LiveId" clId="{78872068-8B10-4F26-BF97-C82E0CEFE7C4}" dt="2026-10-12T20:03:34.951" v="515" actId="478"/>
          <ac:spMkLst>
            <pc:docMk/>
            <pc:sldMk cId="0" sldId="260"/>
            <ac:spMk id="21" creationId="{00000000-0000-0000-0000-000000000000}"/>
          </ac:spMkLst>
        </pc:spChg>
        <pc:spChg chg="mod">
          <ac:chgData name="Akinlolu Oyetakin" userId="fa5cef570f93ac02" providerId="LiveId" clId="{78872068-8B10-4F26-BF97-C82E0CEFE7C4}" dt="2026-10-12T20:03:55.253" v="519" actId="403"/>
          <ac:spMkLst>
            <pc:docMk/>
            <pc:sldMk cId="0" sldId="260"/>
            <ac:spMk id="22" creationId="{00000000-0000-0000-0000-000000000000}"/>
          </ac:spMkLst>
        </pc:spChg>
        <pc:spChg chg="del">
          <ac:chgData name="Akinlolu Oyetakin" userId="fa5cef570f93ac02" providerId="LiveId" clId="{78872068-8B10-4F26-BF97-C82E0CEFE7C4}" dt="2026-10-12T20:03:58.905" v="520" actId="478"/>
          <ac:spMkLst>
            <pc:docMk/>
            <pc:sldMk cId="0" sldId="260"/>
            <ac:spMk id="25" creationId="{00000000-0000-0000-0000-000000000000}"/>
          </ac:spMkLst>
        </pc:spChg>
        <pc:spChg chg="mod">
          <ac:chgData name="Akinlolu Oyetakin" userId="fa5cef570f93ac02" providerId="LiveId" clId="{78872068-8B10-4F26-BF97-C82E0CEFE7C4}" dt="2026-10-12T20:04:30.131" v="525" actId="403"/>
          <ac:spMkLst>
            <pc:docMk/>
            <pc:sldMk cId="0" sldId="260"/>
            <ac:spMk id="26" creationId="{00000000-0000-0000-0000-000000000000}"/>
          </ac:spMkLst>
        </pc:spChg>
        <pc:spChg chg="mod">
          <ac:chgData name="Akinlolu Oyetakin" userId="fa5cef570f93ac02" providerId="LiveId" clId="{78872068-8B10-4F26-BF97-C82E0CEFE7C4}" dt="2026-10-12T20:04:56.113" v="529" actId="1076"/>
          <ac:spMkLst>
            <pc:docMk/>
            <pc:sldMk cId="0" sldId="260"/>
            <ac:spMk id="28" creationId="{00000000-0000-0000-0000-000000000000}"/>
          </ac:spMkLst>
        </pc:spChg>
        <pc:spChg chg="del">
          <ac:chgData name="Akinlolu Oyetakin" userId="fa5cef570f93ac02" providerId="LiveId" clId="{78872068-8B10-4F26-BF97-C82E0CEFE7C4}" dt="2026-10-12T19:58:42.628" v="484" actId="478"/>
          <ac:spMkLst>
            <pc:docMk/>
            <pc:sldMk cId="0" sldId="260"/>
            <ac:spMk id="29" creationId="{00000000-0000-0000-0000-000000000000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3233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8686800" y="0"/>
            <a:ext cx="3504895" cy="6858000"/>
          </a:xfrm>
          <a:prstGeom prst="rect">
            <a:avLst/>
          </a:prstGeom>
          <a:solidFill>
            <a:srgbClr val="1D3557"/>
          </a:solidFill>
          <a:ln>
            <a:solidFill>
              <a:srgbClr val="1D35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9189720" y="777240"/>
            <a:ext cx="2331720" cy="2331720"/>
          </a:xfrm>
          <a:prstGeom prst="ellipse">
            <a:avLst/>
          </a:prstGeom>
          <a:solidFill>
            <a:srgbClr val="009999"/>
          </a:solidFill>
          <a:ln>
            <a:solidFill>
              <a:srgbClr val="00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9646920" y="1234440"/>
            <a:ext cx="1417320" cy="1417320"/>
          </a:xfrm>
          <a:prstGeom prst="ellipse">
            <a:avLst/>
          </a:prstGeom>
          <a:solidFill>
            <a:srgbClr val="1D3557"/>
          </a:solidFill>
          <a:ln>
            <a:solidFill>
              <a:srgbClr val="1D35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10104120" y="1691640"/>
            <a:ext cx="502920" cy="502920"/>
          </a:xfrm>
          <a:prstGeom prst="ellipse">
            <a:avLst/>
          </a:prstGeom>
          <a:solidFill>
            <a:srgbClr val="F4B53F"/>
          </a:solidFill>
          <a:ln>
            <a:solidFill>
              <a:srgbClr val="F4B5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006840" y="3657600"/>
            <a:ext cx="2788920" cy="4572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ptos"/>
              </a:rPr>
              <a:t>PREDICT  →  PRIORITISE  →  RETAIN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960120"/>
            <a:ext cx="7406640" cy="1027974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lang="en-US" sz="3100" b="1" i="0" dirty="0">
                <a:solidFill>
                  <a:srgbClr val="FFFFFF"/>
                </a:solidFill>
                <a:latin typeface="Aptos"/>
              </a:rPr>
              <a:t>A Data-led Approach To
Customer Retention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697480"/>
            <a:ext cx="7223760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 dirty="0">
                <a:solidFill>
                  <a:srgbClr val="D7F4EE"/>
                </a:solidFill>
                <a:latin typeface="Aptos"/>
              </a:rPr>
              <a:t>Telecom Customer Churn Prediction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657600"/>
            <a:ext cx="1828800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F4B53F"/>
                </a:solidFill>
                <a:latin typeface="Aptos"/>
              </a:rPr>
              <a:t>Business question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005072"/>
            <a:ext cx="7269480" cy="105156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 i="0">
                <a:solidFill>
                  <a:srgbClr val="FFFFFF"/>
                </a:solidFill>
                <a:latin typeface="Aptos"/>
              </a:rPr>
              <a:t>Can we identify customers at risk of leaving early enough to focus limited retention resources where they may have the greatest impact?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5623560"/>
            <a:ext cx="7178040" cy="32004"/>
          </a:xfrm>
          <a:prstGeom prst="rect">
            <a:avLst/>
          </a:prstGeom>
          <a:solidFill>
            <a:srgbClr val="009999"/>
          </a:solidFill>
          <a:ln>
            <a:solidFill>
              <a:srgbClr val="00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85800" y="5870448"/>
            <a:ext cx="7269480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D7F4EE"/>
                </a:solidFill>
                <a:latin typeface="Aptos"/>
              </a:rPr>
              <a:t>Project focus: predict churn, understand model trade-offs, and support smarter retention decisions.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6492240"/>
            <a:ext cx="7315200" cy="1828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 i="0">
                <a:solidFill>
                  <a:srgbClr val="BECFE1"/>
                </a:solidFill>
                <a:latin typeface="Aptos"/>
              </a:rPr>
              <a:t>BUSINESS CASE  •  MACHINE LEARNING  •  CUSTOMER VALUE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310896"/>
            <a:ext cx="7772400" cy="2286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009999"/>
                </a:solidFill>
                <a:latin typeface="Aptos"/>
              </a:rPr>
              <a:t>01 • BUSINESS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12648"/>
            <a:ext cx="11064240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13233D"/>
                </a:solidFill>
                <a:latin typeface="Aptos"/>
              </a:rPr>
              <a:t>The business problem: limited budget, costly churn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25296"/>
            <a:ext cx="11018520" cy="22860"/>
          </a:xfrm>
          <a:prstGeom prst="rect">
            <a:avLst/>
          </a:prstGeom>
          <a:solidFill>
            <a:srgbClr val="DDE4ED"/>
          </a:solidFill>
          <a:ln>
            <a:solidFill>
              <a:srgbClr val="DDE4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58368" y="1481328"/>
            <a:ext cx="384048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 i="0">
                <a:solidFill>
                  <a:srgbClr val="13233D"/>
                </a:solidFill>
                <a:latin typeface="Aptos"/>
              </a:rPr>
              <a:t>The challenge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847088"/>
            <a:ext cx="4800600" cy="12344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0" i="0">
                <a:solidFill>
                  <a:srgbClr val="2C3849"/>
                </a:solidFill>
                <a:latin typeface="Aptos"/>
              </a:rPr>
              <a:t>Customers can leave for competitors. The company cannot give every customer the same level of retention attention, so it needs a practical way to prioritise who may be at risk.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3364992"/>
            <a:ext cx="2267712" cy="1417320"/>
          </a:xfrm>
          <a:prstGeom prst="roundRect">
            <a:avLst/>
          </a:prstGeom>
          <a:solidFill>
            <a:srgbClr val="FFFFFF"/>
          </a:solidFill>
          <a:ln>
            <a:solidFill>
              <a:srgbClr val="DDE4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58368" y="3364992"/>
            <a:ext cx="64008" cy="1417320"/>
          </a:xfrm>
          <a:prstGeom prst="rect">
            <a:avLst/>
          </a:prstGeom>
          <a:solidFill>
            <a:srgbClr val="D35757"/>
          </a:solidFill>
          <a:ln>
            <a:solidFill>
              <a:srgbClr val="D35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59536" y="3511296"/>
            <a:ext cx="1901952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3233D"/>
                </a:solidFill>
                <a:latin typeface="Aptos"/>
              </a:rPr>
              <a:t>Revenue at risk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9536" y="3877056"/>
            <a:ext cx="1901952" cy="79552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2C3849"/>
                </a:solidFill>
                <a:latin typeface="Aptos"/>
              </a:rPr>
              <a:t>A churned customer can mean lost recurring revenue and future customer value.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090672" y="3364992"/>
            <a:ext cx="2359152" cy="1417320"/>
          </a:xfrm>
          <a:prstGeom prst="roundRect">
            <a:avLst/>
          </a:prstGeom>
          <a:solidFill>
            <a:srgbClr val="FFFFFF"/>
          </a:solidFill>
          <a:ln>
            <a:solidFill>
              <a:srgbClr val="DDE4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3090672" y="3364992"/>
            <a:ext cx="64008" cy="1417320"/>
          </a:xfrm>
          <a:prstGeom prst="rect">
            <a:avLst/>
          </a:prstGeom>
          <a:solidFill>
            <a:srgbClr val="F4B53F"/>
          </a:solidFill>
          <a:ln>
            <a:solidFill>
              <a:srgbClr val="F4B5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291840" y="3511296"/>
            <a:ext cx="1993392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3233D"/>
                </a:solidFill>
                <a:latin typeface="Aptos"/>
              </a:rPr>
              <a:t>Limited capacity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91840" y="3877056"/>
            <a:ext cx="1993392" cy="79552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2C3849"/>
                </a:solidFill>
                <a:latin typeface="Aptos"/>
              </a:rPr>
              <a:t>Discounts, service calls and offers cost money and staff time.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89320" y="1572768"/>
            <a:ext cx="5440680" cy="3200400"/>
          </a:xfrm>
          <a:prstGeom prst="roundRect">
            <a:avLst/>
          </a:prstGeom>
          <a:solidFill>
            <a:srgbClr val="13233D"/>
          </a:solidFill>
          <a:ln>
            <a:solidFill>
              <a:srgbClr val="1323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309360" y="1874519"/>
            <a:ext cx="4800600" cy="36576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Aptos"/>
              </a:rPr>
              <a:t>What the model can enable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2450592"/>
            <a:ext cx="4663440" cy="1088503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>
              <a:spcAft>
                <a:spcPts val="1400"/>
              </a:spcAft>
            </a:pPr>
            <a:r>
              <a:rPr sz="1500" b="1" dirty="0">
                <a:solidFill>
                  <a:srgbClr val="F4B53F"/>
                </a:solidFill>
                <a:latin typeface="Aptos"/>
              </a:rPr>
              <a:t>• </a:t>
            </a:r>
            <a:r>
              <a:rPr sz="1500" b="1" dirty="0">
                <a:solidFill>
                  <a:srgbClr val="FFFFFF"/>
                </a:solidFill>
                <a:latin typeface="Aptos"/>
              </a:rPr>
              <a:t>Prioritize:</a:t>
            </a:r>
            <a:r>
              <a:rPr sz="1500" dirty="0">
                <a:solidFill>
                  <a:srgbClr val="FFFFFF"/>
                </a:solidFill>
                <a:latin typeface="Aptos"/>
              </a:rPr>
              <a:t> rank customers by estimated churn risk.</a:t>
            </a:r>
          </a:p>
          <a:p>
            <a:pPr>
              <a:spcAft>
                <a:spcPts val="1400"/>
              </a:spcAft>
            </a:pPr>
            <a:r>
              <a:rPr sz="1500" b="1" dirty="0">
                <a:solidFill>
                  <a:srgbClr val="F4B53F"/>
                </a:solidFill>
                <a:latin typeface="Aptos"/>
              </a:rPr>
              <a:t>• </a:t>
            </a:r>
            <a:r>
              <a:rPr sz="1500" b="1" dirty="0">
                <a:solidFill>
                  <a:srgbClr val="FFFFFF"/>
                </a:solidFill>
                <a:latin typeface="Aptos"/>
              </a:rPr>
              <a:t>Focus:</a:t>
            </a:r>
            <a:r>
              <a:rPr sz="1500" dirty="0">
                <a:solidFill>
                  <a:srgbClr val="FFFFFF"/>
                </a:solidFill>
                <a:latin typeface="Aptos"/>
              </a:rPr>
              <a:t> direct limited outreach to a manageable group.</a:t>
            </a:r>
          </a:p>
          <a:p>
            <a:pPr>
              <a:spcAft>
                <a:spcPts val="1400"/>
              </a:spcAft>
            </a:pPr>
            <a:r>
              <a:rPr sz="1500" b="1" dirty="0">
                <a:solidFill>
                  <a:srgbClr val="F4B53F"/>
                </a:solidFill>
                <a:latin typeface="Aptos"/>
              </a:rPr>
              <a:t>• </a:t>
            </a:r>
            <a:r>
              <a:rPr sz="1500" b="1" dirty="0">
                <a:solidFill>
                  <a:srgbClr val="FFFFFF"/>
                </a:solidFill>
                <a:latin typeface="Aptos"/>
              </a:rPr>
              <a:t>Learn:</a:t>
            </a:r>
            <a:r>
              <a:rPr sz="1500" dirty="0">
                <a:solidFill>
                  <a:srgbClr val="FFFFFF"/>
                </a:solidFill>
                <a:latin typeface="Aptos"/>
              </a:rPr>
              <a:t> measure which interventions </a:t>
            </a:r>
            <a:r>
              <a:rPr lang="en-GB" sz="1500" dirty="0">
                <a:solidFill>
                  <a:srgbClr val="FFFFFF"/>
                </a:solidFill>
                <a:latin typeface="Aptos"/>
              </a:rPr>
              <a:t>reduce</a:t>
            </a:r>
            <a:r>
              <a:rPr sz="1500" dirty="0">
                <a:solidFill>
                  <a:srgbClr val="FFFFFF"/>
                </a:solidFill>
                <a:latin typeface="Aptos"/>
              </a:rPr>
              <a:t> churn.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5166360"/>
            <a:ext cx="10771632" cy="822960"/>
          </a:xfrm>
          <a:prstGeom prst="roundRect">
            <a:avLst/>
          </a:prstGeom>
          <a:solidFill>
            <a:srgbClr val="D7F4EE"/>
          </a:solidFill>
          <a:ln>
            <a:solidFill>
              <a:srgbClr val="D7F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96112" y="5358384"/>
            <a:ext cx="1965960" cy="2286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3233D"/>
                </a:solidFill>
                <a:latin typeface="Aptos"/>
              </a:rPr>
              <a:t>Business value to test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816352" y="5321808"/>
            <a:ext cx="8183879" cy="36576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13233D"/>
                </a:solidFill>
                <a:latin typeface="Aptos"/>
              </a:rPr>
              <a:t>Fewer avoidable losses • better-targeted retention spend • clearer visibility of at-risk customers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6144768"/>
            <a:ext cx="10789920" cy="2286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1">
                <a:solidFill>
                  <a:srgbClr val="647387"/>
                </a:solidFill>
                <a:latin typeface="Aptos"/>
              </a:rPr>
              <a:t>Cost note: financial impact has not yet been quantified; estimate it using customer lifetime value, intervention cost and measured retention uplift.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DB2A91B-E53E-AFD3-04BF-9E87B3029AE2}"/>
              </a:ext>
            </a:extLst>
          </p:cNvPr>
          <p:cNvSpPr txBox="1"/>
          <p:nvPr/>
        </p:nvSpPr>
        <p:spPr>
          <a:xfrm>
            <a:off x="594360" y="6519672"/>
            <a:ext cx="7772400" cy="196977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 i="0" dirty="0">
                <a:solidFill>
                  <a:srgbClr val="647387"/>
                </a:solidFill>
                <a:latin typeface="Aptos"/>
              </a:rPr>
              <a:t>TELECOM CUSTOMER CHURN  •  </a:t>
            </a:r>
            <a:r>
              <a:rPr lang="en-US" sz="800" b="1" i="0" dirty="0">
                <a:solidFill>
                  <a:srgbClr val="647387"/>
                </a:solidFill>
                <a:latin typeface="Aptos"/>
              </a:rPr>
              <a:t>2</a:t>
            </a:r>
            <a:r>
              <a:rPr sz="800" b="1" i="0" dirty="0">
                <a:solidFill>
                  <a:srgbClr val="647387"/>
                </a:solidFill>
                <a:latin typeface="Aptos"/>
              </a:rPr>
              <a:t>/5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310896"/>
            <a:ext cx="7772400" cy="2286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009999"/>
                </a:solidFill>
                <a:latin typeface="Aptos"/>
              </a:rPr>
              <a:t>02 • DATA 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12648"/>
            <a:ext cx="11064240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13233D"/>
                </a:solidFill>
                <a:latin typeface="Aptos"/>
              </a:rPr>
              <a:t>The data: customer and service signals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25296"/>
            <a:ext cx="11018520" cy="22860"/>
          </a:xfrm>
          <a:prstGeom prst="rect">
            <a:avLst/>
          </a:prstGeom>
          <a:solidFill>
            <a:srgbClr val="DDE4ED"/>
          </a:solidFill>
          <a:ln>
            <a:solidFill>
              <a:srgbClr val="DDE4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94360" y="6519672"/>
            <a:ext cx="77724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 i="0" dirty="0">
                <a:solidFill>
                  <a:srgbClr val="647387"/>
                </a:solidFill>
                <a:latin typeface="Aptos"/>
              </a:rPr>
              <a:t>TELECOM CUSTOMER CHURN  •  3/5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481328"/>
            <a:ext cx="192024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DDE4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86384" y="1618488"/>
            <a:ext cx="1664208" cy="43891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600" b="1" i="0">
                <a:solidFill>
                  <a:srgbClr val="009999"/>
                </a:solidFill>
                <a:latin typeface="Aptos"/>
              </a:rPr>
              <a:t>7,043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8096" y="2103120"/>
            <a:ext cx="1700784" cy="310896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 i="0">
                <a:solidFill>
                  <a:srgbClr val="13233D"/>
                </a:solidFill>
                <a:latin typeface="Aptos"/>
              </a:rPr>
              <a:t>Customer records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" y="2441448"/>
            <a:ext cx="1700784" cy="212366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lang="en-GB" sz="900" dirty="0">
                <a:solidFill>
                  <a:srgbClr val="647387"/>
                </a:solidFill>
                <a:latin typeface="Aptos"/>
              </a:rPr>
              <a:t>From Kaggle</a:t>
            </a:r>
            <a:endParaRPr sz="900" b="0" i="0" dirty="0">
              <a:solidFill>
                <a:srgbClr val="647387"/>
              </a:solidFill>
              <a:latin typeface="Aptos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2743200" y="1481328"/>
            <a:ext cx="192024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DDE4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2871216" y="1618488"/>
            <a:ext cx="1664208" cy="473976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600" b="1" i="0" dirty="0">
                <a:solidFill>
                  <a:srgbClr val="1D3557"/>
                </a:solidFill>
                <a:latin typeface="Aptos"/>
              </a:rPr>
              <a:t>2</a:t>
            </a:r>
            <a:r>
              <a:rPr lang="en-US" sz="2600" b="1" i="0" dirty="0">
                <a:solidFill>
                  <a:srgbClr val="1D3557"/>
                </a:solidFill>
                <a:latin typeface="Aptos"/>
              </a:rPr>
              <a:t>1</a:t>
            </a:r>
            <a:endParaRPr sz="2600" b="1" i="0" dirty="0">
              <a:solidFill>
                <a:srgbClr val="1D3557"/>
              </a:solidFill>
              <a:latin typeface="Aptos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2852928" y="2103120"/>
            <a:ext cx="1700784" cy="310896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 i="0">
                <a:solidFill>
                  <a:srgbClr val="13233D"/>
                </a:solidFill>
                <a:latin typeface="Aptos"/>
              </a:rPr>
              <a:t>Columns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52928" y="2441448"/>
            <a:ext cx="1700784" cy="212366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 i="0" dirty="0">
                <a:solidFill>
                  <a:srgbClr val="647387"/>
                </a:solidFill>
                <a:latin typeface="Aptos"/>
              </a:rPr>
              <a:t>Customer, service, billing</a:t>
            </a:r>
            <a:r>
              <a:rPr lang="en-GB" sz="900" dirty="0">
                <a:solidFill>
                  <a:srgbClr val="647387"/>
                </a:solidFill>
                <a:latin typeface="Aptos"/>
              </a:rPr>
              <a:t> etc</a:t>
            </a:r>
            <a:endParaRPr sz="900" b="0" i="0" dirty="0">
              <a:solidFill>
                <a:srgbClr val="647387"/>
              </a:solidFill>
              <a:latin typeface="Aptos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4828032" y="1481328"/>
            <a:ext cx="192024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DDE4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956048" y="1618488"/>
            <a:ext cx="1664208" cy="43891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600" b="1" i="0">
                <a:solidFill>
                  <a:srgbClr val="F4B53F"/>
                </a:solidFill>
                <a:latin typeface="Aptos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37760" y="2103120"/>
            <a:ext cx="1700784" cy="310896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 i="0">
                <a:solidFill>
                  <a:srgbClr val="13233D"/>
                </a:solidFill>
                <a:latin typeface="Aptos"/>
              </a:rPr>
              <a:t>Target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37760" y="2441448"/>
            <a:ext cx="1700784" cy="320039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 i="0">
                <a:solidFill>
                  <a:srgbClr val="647387"/>
                </a:solidFill>
                <a:latin typeface="Aptos"/>
              </a:rPr>
              <a:t>Churn: 1 = yes, 0 = no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3127248"/>
            <a:ext cx="3840480" cy="3200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 i="0" dirty="0">
                <a:solidFill>
                  <a:srgbClr val="13233D"/>
                </a:solidFill>
                <a:latin typeface="Aptos"/>
              </a:rPr>
              <a:t>Key features tested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3566160"/>
            <a:ext cx="5394960" cy="437043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>
              <a:spcAft>
                <a:spcPts val="600"/>
              </a:spcAft>
            </a:pPr>
            <a:r>
              <a:rPr lang="en-US" sz="1300" b="1" dirty="0">
                <a:solidFill>
                  <a:srgbClr val="009999"/>
                </a:solidFill>
                <a:latin typeface="Aptos"/>
              </a:rPr>
              <a:t>• </a:t>
            </a:r>
            <a:r>
              <a:rPr lang="en-US" sz="1300" b="1" dirty="0">
                <a:solidFill>
                  <a:srgbClr val="2C3849"/>
                </a:solidFill>
                <a:latin typeface="Aptos"/>
              </a:rPr>
              <a:t>ALL — </a:t>
            </a:r>
            <a:r>
              <a:rPr lang="en-US" sz="1300" dirty="0">
                <a:solidFill>
                  <a:srgbClr val="2C3849"/>
                </a:solidFill>
                <a:latin typeface="Aptos"/>
              </a:rPr>
              <a:t>Categorical Columns were converted into numerical and was encoded. The numerical Columns was standardized 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46520" y="1481328"/>
            <a:ext cx="4983480" cy="4526280"/>
          </a:xfrm>
          <a:prstGeom prst="roundRect">
            <a:avLst/>
          </a:prstGeom>
          <a:solidFill>
            <a:srgbClr val="FFFFFF"/>
          </a:solidFill>
          <a:ln>
            <a:solidFill>
              <a:srgbClr val="DDE4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748272" y="1773936"/>
            <a:ext cx="4343400" cy="3200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 i="0">
                <a:solidFill>
                  <a:srgbClr val="13233D"/>
                </a:solidFill>
                <a:latin typeface="Aptos"/>
              </a:rPr>
              <a:t>Data-quality checks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48272" y="2267712"/>
            <a:ext cx="4297680" cy="2099036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>
              <a:spcAft>
                <a:spcPts val="900"/>
              </a:spcAft>
            </a:pPr>
            <a:r>
              <a:rPr sz="1300" b="1" dirty="0">
                <a:solidFill>
                  <a:srgbClr val="009999"/>
                </a:solidFill>
                <a:latin typeface="Aptos"/>
              </a:rPr>
              <a:t>• </a:t>
            </a:r>
            <a:r>
              <a:rPr sz="1300" b="1" dirty="0">
                <a:solidFill>
                  <a:srgbClr val="2C3849"/>
                </a:solidFill>
                <a:latin typeface="Aptos"/>
              </a:rPr>
              <a:t>Missing values:</a:t>
            </a:r>
            <a:r>
              <a:rPr sz="1300" dirty="0">
                <a:solidFill>
                  <a:srgbClr val="2C3849"/>
                </a:solidFill>
                <a:latin typeface="Aptos"/>
              </a:rPr>
              <a:t> </a:t>
            </a:r>
            <a:r>
              <a:rPr lang="en-GB" sz="1300" dirty="0">
                <a:solidFill>
                  <a:srgbClr val="2C3849"/>
                </a:solidFill>
                <a:latin typeface="Aptos"/>
              </a:rPr>
              <a:t>no null values. Identified 11 </a:t>
            </a:r>
            <a:r>
              <a:rPr sz="1300" dirty="0">
                <a:solidFill>
                  <a:srgbClr val="2C3849"/>
                </a:solidFill>
                <a:latin typeface="Aptos"/>
              </a:rPr>
              <a:t>blank strings</a:t>
            </a:r>
            <a:r>
              <a:rPr lang="en-GB" sz="1300" dirty="0">
                <a:solidFill>
                  <a:srgbClr val="2C3849"/>
                </a:solidFill>
                <a:latin typeface="Aptos"/>
              </a:rPr>
              <a:t> in “Total Charges Feature</a:t>
            </a:r>
            <a:r>
              <a:rPr sz="1300" dirty="0">
                <a:solidFill>
                  <a:srgbClr val="2C3849"/>
                </a:solidFill>
                <a:latin typeface="Aptos"/>
              </a:rPr>
              <a:t>.</a:t>
            </a:r>
          </a:p>
          <a:p>
            <a:pPr>
              <a:spcAft>
                <a:spcPts val="900"/>
              </a:spcAft>
            </a:pPr>
            <a:r>
              <a:rPr sz="1300" b="1" dirty="0">
                <a:solidFill>
                  <a:srgbClr val="009999"/>
                </a:solidFill>
                <a:latin typeface="Aptos"/>
              </a:rPr>
              <a:t>• </a:t>
            </a:r>
            <a:r>
              <a:rPr sz="1300" b="1" dirty="0">
                <a:solidFill>
                  <a:srgbClr val="2C3849"/>
                </a:solidFill>
                <a:latin typeface="Aptos"/>
              </a:rPr>
              <a:t>Data types:</a:t>
            </a:r>
            <a:r>
              <a:rPr sz="1300" dirty="0">
                <a:solidFill>
                  <a:srgbClr val="2C3849"/>
                </a:solidFill>
                <a:latin typeface="Aptos"/>
              </a:rPr>
              <a:t> </a:t>
            </a:r>
            <a:r>
              <a:rPr lang="en-GB" sz="1300" dirty="0">
                <a:solidFill>
                  <a:srgbClr val="2C3849"/>
                </a:solidFill>
                <a:latin typeface="Aptos"/>
              </a:rPr>
              <a:t>Total Charge </a:t>
            </a:r>
            <a:r>
              <a:rPr lang="en-US" sz="1300" dirty="0">
                <a:solidFill>
                  <a:srgbClr val="2C3849"/>
                </a:solidFill>
                <a:latin typeface="Aptos"/>
              </a:rPr>
              <a:t>initially had a string data type but was changed to numeric</a:t>
            </a:r>
            <a:endParaRPr sz="1300" dirty="0">
              <a:solidFill>
                <a:srgbClr val="2C3849"/>
              </a:solidFill>
              <a:latin typeface="Aptos"/>
            </a:endParaRPr>
          </a:p>
          <a:p>
            <a:pPr>
              <a:spcAft>
                <a:spcPts val="900"/>
              </a:spcAft>
            </a:pPr>
            <a:r>
              <a:rPr sz="1300" b="1" dirty="0">
                <a:solidFill>
                  <a:srgbClr val="009999"/>
                </a:solidFill>
                <a:latin typeface="Aptos"/>
              </a:rPr>
              <a:t>• </a:t>
            </a:r>
            <a:r>
              <a:rPr sz="1300" b="1" dirty="0">
                <a:solidFill>
                  <a:srgbClr val="2C3849"/>
                </a:solidFill>
                <a:latin typeface="Aptos"/>
              </a:rPr>
              <a:t>Duplicates:</a:t>
            </a:r>
            <a:r>
              <a:rPr sz="1300" dirty="0">
                <a:solidFill>
                  <a:srgbClr val="2C3849"/>
                </a:solidFill>
                <a:latin typeface="Aptos"/>
              </a:rPr>
              <a:t> </a:t>
            </a:r>
            <a:r>
              <a:rPr lang="en-US" sz="1300" dirty="0">
                <a:solidFill>
                  <a:srgbClr val="2C3849"/>
                </a:solidFill>
                <a:latin typeface="Aptos"/>
              </a:rPr>
              <a:t>No Duplicates recorded</a:t>
            </a:r>
            <a:endParaRPr sz="1300" dirty="0">
              <a:solidFill>
                <a:srgbClr val="2C3849"/>
              </a:solidFill>
              <a:latin typeface="Aptos"/>
            </a:endParaRPr>
          </a:p>
          <a:p>
            <a:pPr>
              <a:spcAft>
                <a:spcPts val="900"/>
              </a:spcAft>
            </a:pPr>
            <a:r>
              <a:rPr sz="1300" b="1" dirty="0">
                <a:solidFill>
                  <a:srgbClr val="009999"/>
                </a:solidFill>
                <a:latin typeface="Aptos"/>
              </a:rPr>
              <a:t>• </a:t>
            </a:r>
            <a:r>
              <a:rPr sz="1300" b="1" dirty="0">
                <a:solidFill>
                  <a:srgbClr val="2C3849"/>
                </a:solidFill>
                <a:latin typeface="Aptos"/>
              </a:rPr>
              <a:t>Categories:</a:t>
            </a:r>
            <a:r>
              <a:rPr sz="1300" dirty="0">
                <a:solidFill>
                  <a:srgbClr val="2C3849"/>
                </a:solidFill>
                <a:latin typeface="Aptos"/>
              </a:rPr>
              <a:t> </a:t>
            </a:r>
            <a:r>
              <a:rPr lang="en-US" sz="1300" dirty="0">
                <a:solidFill>
                  <a:srgbClr val="2C3849"/>
                </a:solidFill>
                <a:latin typeface="Aptos"/>
              </a:rPr>
              <a:t>All label was consistent</a:t>
            </a:r>
            <a:endParaRPr sz="1300" dirty="0">
              <a:solidFill>
                <a:srgbClr val="2C3849"/>
              </a:solidFill>
              <a:latin typeface="Aptos"/>
            </a:endParaRPr>
          </a:p>
          <a:p>
            <a:pPr>
              <a:spcAft>
                <a:spcPts val="900"/>
              </a:spcAft>
            </a:pPr>
            <a:r>
              <a:rPr sz="1300" b="1" dirty="0">
                <a:solidFill>
                  <a:srgbClr val="009999"/>
                </a:solidFill>
                <a:latin typeface="Aptos"/>
              </a:rPr>
              <a:t>• </a:t>
            </a:r>
            <a:r>
              <a:rPr sz="1300" b="1" dirty="0">
                <a:solidFill>
                  <a:srgbClr val="2C3849"/>
                </a:solidFill>
                <a:latin typeface="Aptos"/>
              </a:rPr>
              <a:t>Outliers:</a:t>
            </a:r>
            <a:r>
              <a:rPr sz="1300" dirty="0">
                <a:solidFill>
                  <a:srgbClr val="2C3849"/>
                </a:solidFill>
                <a:latin typeface="Aptos"/>
              </a:rPr>
              <a:t> </a:t>
            </a:r>
            <a:r>
              <a:rPr lang="en-US" sz="1300" dirty="0">
                <a:solidFill>
                  <a:srgbClr val="2C3849"/>
                </a:solidFill>
                <a:latin typeface="Aptos"/>
              </a:rPr>
              <a:t>0 Potential Outliers for Numerical and Categorical Features</a:t>
            </a:r>
            <a:endParaRPr sz="1300" dirty="0">
              <a:solidFill>
                <a:srgbClr val="2C3849"/>
              </a:solidFill>
              <a:latin typeface="Aptos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685800" y="6199632"/>
            <a:ext cx="10698480" cy="20116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1">
                <a:solidFill>
                  <a:srgbClr val="647387"/>
                </a:solidFill>
                <a:latin typeface="Aptos"/>
              </a:rPr>
              <a:t>Source: Telco Customer Churn CSV used in the project. Current analysis focuses first on five selected categorical predictors.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310896"/>
            <a:ext cx="7772400" cy="2286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009999"/>
                </a:solidFill>
                <a:latin typeface="Aptos"/>
              </a:rPr>
              <a:t>03 • MODELLING &amp;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12648"/>
            <a:ext cx="11064240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13233D"/>
                </a:solidFill>
                <a:latin typeface="Aptos"/>
              </a:rPr>
              <a:t>Approach and results: Random Forest leads on key retention metrics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25296"/>
            <a:ext cx="11018520" cy="22860"/>
          </a:xfrm>
          <a:prstGeom prst="rect">
            <a:avLst/>
          </a:prstGeom>
          <a:solidFill>
            <a:srgbClr val="DDE4ED"/>
          </a:solidFill>
          <a:ln>
            <a:solidFill>
              <a:srgbClr val="DDE4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94360" y="6519672"/>
            <a:ext cx="77724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 i="0">
                <a:solidFill>
                  <a:srgbClr val="647387"/>
                </a:solidFill>
                <a:latin typeface="Aptos"/>
              </a:rPr>
              <a:t>TELECOM CUSTOMER CHURN  •  4/5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444752"/>
            <a:ext cx="1828800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13233D"/>
                </a:solidFill>
                <a:latin typeface="Aptos"/>
              </a:rPr>
              <a:t>Approach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810512"/>
            <a:ext cx="4023360" cy="1822037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>
              <a:spcAft>
                <a:spcPts val="800"/>
              </a:spcAft>
            </a:pPr>
            <a:r>
              <a:rPr sz="1200" b="1" dirty="0">
                <a:solidFill>
                  <a:srgbClr val="009999"/>
                </a:solidFill>
                <a:latin typeface="Aptos"/>
              </a:rPr>
              <a:t>• </a:t>
            </a:r>
            <a:r>
              <a:rPr sz="1200" b="1" dirty="0">
                <a:solidFill>
                  <a:srgbClr val="2C3849"/>
                </a:solidFill>
                <a:latin typeface="Aptos"/>
              </a:rPr>
              <a:t>Problem type: </a:t>
            </a:r>
            <a:r>
              <a:rPr sz="1200" dirty="0">
                <a:solidFill>
                  <a:srgbClr val="2C3849"/>
                </a:solidFill>
                <a:latin typeface="Aptos"/>
              </a:rPr>
              <a:t>binary classification — predict churn / no churn.</a:t>
            </a:r>
          </a:p>
          <a:p>
            <a:pPr>
              <a:spcAft>
                <a:spcPts val="800"/>
              </a:spcAft>
            </a:pPr>
            <a:r>
              <a:rPr sz="1200" b="1" dirty="0">
                <a:solidFill>
                  <a:srgbClr val="009999"/>
                </a:solidFill>
                <a:latin typeface="Aptos"/>
              </a:rPr>
              <a:t>• </a:t>
            </a:r>
            <a:r>
              <a:rPr sz="1200" b="1" dirty="0">
                <a:solidFill>
                  <a:srgbClr val="2C3849"/>
                </a:solidFill>
                <a:latin typeface="Aptos"/>
              </a:rPr>
              <a:t>Models compared: </a:t>
            </a:r>
            <a:r>
              <a:rPr sz="1200" dirty="0">
                <a:solidFill>
                  <a:srgbClr val="2C3849"/>
                </a:solidFill>
                <a:latin typeface="Aptos"/>
              </a:rPr>
              <a:t>Logistic Regression, Decision Tre</a:t>
            </a:r>
            <a:r>
              <a:rPr lang="en-US" sz="1200" dirty="0">
                <a:solidFill>
                  <a:srgbClr val="2C3849"/>
                </a:solidFill>
                <a:latin typeface="Aptos"/>
              </a:rPr>
              <a:t>e ,</a:t>
            </a:r>
            <a:r>
              <a:rPr sz="1200" dirty="0">
                <a:solidFill>
                  <a:srgbClr val="2C3849"/>
                </a:solidFill>
                <a:latin typeface="Aptos"/>
              </a:rPr>
              <a:t>Random Forest</a:t>
            </a:r>
            <a:r>
              <a:rPr lang="en-US" sz="1200" dirty="0">
                <a:solidFill>
                  <a:srgbClr val="2C3849"/>
                </a:solidFill>
                <a:latin typeface="Aptos"/>
              </a:rPr>
              <a:t> and KNN</a:t>
            </a:r>
            <a:endParaRPr sz="1200" dirty="0">
              <a:solidFill>
                <a:srgbClr val="2C3849"/>
              </a:solidFill>
              <a:latin typeface="Aptos"/>
            </a:endParaRPr>
          </a:p>
          <a:p>
            <a:pPr>
              <a:spcAft>
                <a:spcPts val="800"/>
              </a:spcAft>
            </a:pPr>
            <a:r>
              <a:rPr sz="1200" b="1" dirty="0">
                <a:solidFill>
                  <a:srgbClr val="009999"/>
                </a:solidFill>
                <a:latin typeface="Aptos"/>
              </a:rPr>
              <a:t>• </a:t>
            </a:r>
            <a:r>
              <a:rPr sz="1200" b="1" dirty="0">
                <a:solidFill>
                  <a:srgbClr val="2C3849"/>
                </a:solidFill>
                <a:latin typeface="Aptos"/>
              </a:rPr>
              <a:t>Evaluation: </a:t>
            </a:r>
            <a:r>
              <a:rPr sz="1200" dirty="0">
                <a:solidFill>
                  <a:srgbClr val="2C3849"/>
                </a:solidFill>
                <a:latin typeface="Aptos"/>
              </a:rPr>
              <a:t>same train/test split; accuracy, precision, recall, F1</a:t>
            </a:r>
            <a:r>
              <a:rPr lang="en-US" sz="1200" dirty="0">
                <a:solidFill>
                  <a:srgbClr val="2C3849"/>
                </a:solidFill>
                <a:latin typeface="Aptos"/>
              </a:rPr>
              <a:t>, </a:t>
            </a:r>
            <a:r>
              <a:rPr sz="1200" dirty="0">
                <a:solidFill>
                  <a:srgbClr val="2C3849"/>
                </a:solidFill>
                <a:latin typeface="Aptos"/>
              </a:rPr>
              <a:t>ROC-AUC</a:t>
            </a:r>
            <a:r>
              <a:rPr lang="en-US" sz="1200" dirty="0">
                <a:solidFill>
                  <a:srgbClr val="2C3849"/>
                </a:solidFill>
                <a:latin typeface="Aptos"/>
              </a:rPr>
              <a:t> and </a:t>
            </a:r>
            <a:endParaRPr sz="1200" dirty="0">
              <a:solidFill>
                <a:srgbClr val="2C3849"/>
              </a:solidFill>
              <a:latin typeface="Aptos"/>
            </a:endParaRPr>
          </a:p>
          <a:p>
            <a:pPr>
              <a:spcAft>
                <a:spcPts val="800"/>
              </a:spcAft>
            </a:pPr>
            <a:r>
              <a:rPr sz="1200" b="1" dirty="0">
                <a:solidFill>
                  <a:srgbClr val="009999"/>
                </a:solidFill>
                <a:latin typeface="Aptos"/>
              </a:rPr>
              <a:t>• </a:t>
            </a:r>
            <a:r>
              <a:rPr sz="1200" b="1" dirty="0">
                <a:solidFill>
                  <a:srgbClr val="2C3849"/>
                </a:solidFill>
                <a:latin typeface="Aptos"/>
              </a:rPr>
              <a:t>Leakage control: </a:t>
            </a:r>
            <a:r>
              <a:rPr sz="1200" dirty="0">
                <a:solidFill>
                  <a:srgbClr val="2C3849"/>
                </a:solidFill>
                <a:latin typeface="Aptos"/>
              </a:rPr>
              <a:t>split first; fit preprocessing on training data only.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24728" y="1404427"/>
            <a:ext cx="5029200" cy="32008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lang="en-US" sz="1600" b="1" i="0" dirty="0">
                <a:solidFill>
                  <a:srgbClr val="13233D"/>
                </a:solidFill>
                <a:latin typeface="Aptos"/>
              </a:rPr>
              <a:t>Test </a:t>
            </a:r>
            <a:r>
              <a:rPr sz="1600" b="1" i="0" dirty="0">
                <a:solidFill>
                  <a:srgbClr val="13233D"/>
                </a:solidFill>
                <a:latin typeface="Aptos"/>
              </a:rPr>
              <a:t>scores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84412140"/>
              </p:ext>
            </p:extLst>
          </p:nvPr>
        </p:nvGraphicFramePr>
        <p:xfrm>
          <a:off x="5054600" y="1785366"/>
          <a:ext cx="6327649" cy="2240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727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1440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48056">
                <a:tc>
                  <a:txBody>
                    <a:bodyPr/>
                    <a:lstStyle/>
                    <a:p>
                      <a:pPr algn="l"/>
                      <a:r>
                        <a:rPr sz="900" b="1" dirty="0">
                          <a:solidFill>
                            <a:srgbClr val="FFFFFF"/>
                          </a:solidFill>
                          <a:latin typeface="Aptos"/>
                        </a:rPr>
                        <a:t>Model</a:t>
                      </a:r>
                    </a:p>
                  </a:txBody>
                  <a:tcPr marL="54864" marR="36576" marT="27432" marB="18288" anchor="ctr">
                    <a:solidFill>
                      <a:srgbClr val="1323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dirty="0">
                          <a:solidFill>
                            <a:srgbClr val="FFFFFF"/>
                          </a:solidFill>
                          <a:latin typeface="Aptos"/>
                        </a:rPr>
                        <a:t>Accuracy</a:t>
                      </a:r>
                    </a:p>
                  </a:txBody>
                  <a:tcPr marL="54864" marR="36576" marT="27432" marB="18288" anchor="ctr">
                    <a:solidFill>
                      <a:srgbClr val="1323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ptos"/>
                        </a:rPr>
                        <a:t>Precision</a:t>
                      </a:r>
                    </a:p>
                  </a:txBody>
                  <a:tcPr marL="54864" marR="36576" marT="27432" marB="18288" anchor="ctr">
                    <a:solidFill>
                      <a:srgbClr val="1323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ptos"/>
                        </a:rPr>
                        <a:t>Recall</a:t>
                      </a:r>
                    </a:p>
                  </a:txBody>
                  <a:tcPr marL="54864" marR="36576" marT="27432" marB="18288" anchor="ctr">
                    <a:solidFill>
                      <a:srgbClr val="1323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ptos"/>
                        </a:rPr>
                        <a:t>F1</a:t>
                      </a:r>
                    </a:p>
                  </a:txBody>
                  <a:tcPr marL="54864" marR="36576" marT="27432" marB="18288" anchor="ctr">
                    <a:solidFill>
                      <a:srgbClr val="1323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dirty="0">
                          <a:solidFill>
                            <a:srgbClr val="FFFFFF"/>
                          </a:solidFill>
                          <a:latin typeface="Aptos"/>
                        </a:rPr>
                        <a:t>ROC-AUC</a:t>
                      </a:r>
                    </a:p>
                  </a:txBody>
                  <a:tcPr marL="54864" marR="36576" marT="27432" marB="18288" anchor="ctr">
                    <a:solidFill>
                      <a:srgbClr val="13233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48056">
                <a:tc>
                  <a:txBody>
                    <a:bodyPr/>
                    <a:lstStyle/>
                    <a:p>
                      <a:pPr algn="l"/>
                      <a:r>
                        <a:rPr sz="1000" b="0" dirty="0">
                          <a:solidFill>
                            <a:srgbClr val="2C3849"/>
                          </a:solidFill>
                          <a:latin typeface="Aptos"/>
                        </a:rPr>
                        <a:t>Decision Tree</a:t>
                      </a:r>
                    </a:p>
                  </a:txBody>
                  <a:tcPr marL="54864" marR="36576" marT="27432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0" dirty="0">
                          <a:solidFill>
                            <a:srgbClr val="2C3849"/>
                          </a:solidFill>
                          <a:latin typeface="Aptos"/>
                        </a:rPr>
                        <a:t>71.7</a:t>
                      </a:r>
                      <a:r>
                        <a:rPr sz="1000" b="0" dirty="0">
                          <a:solidFill>
                            <a:srgbClr val="2C3849"/>
                          </a:solidFill>
                          <a:latin typeface="Aptos"/>
                        </a:rPr>
                        <a:t>%</a:t>
                      </a:r>
                    </a:p>
                  </a:txBody>
                  <a:tcPr marL="54864" marR="36576" marT="27432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0" dirty="0">
                          <a:solidFill>
                            <a:srgbClr val="2C3849"/>
                          </a:solidFill>
                          <a:latin typeface="Aptos"/>
                        </a:rPr>
                        <a:t>46.8</a:t>
                      </a:r>
                      <a:r>
                        <a:rPr sz="1000" b="0" dirty="0">
                          <a:solidFill>
                            <a:srgbClr val="2C3849"/>
                          </a:solidFill>
                          <a:latin typeface="Aptos"/>
                        </a:rPr>
                        <a:t>%</a:t>
                      </a:r>
                    </a:p>
                  </a:txBody>
                  <a:tcPr marL="54864" marR="36576" marT="27432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0" dirty="0">
                          <a:solidFill>
                            <a:srgbClr val="2C3849"/>
                          </a:solidFill>
                          <a:latin typeface="Aptos"/>
                        </a:rPr>
                        <a:t>48.1</a:t>
                      </a:r>
                      <a:r>
                        <a:rPr sz="1000" b="0" dirty="0">
                          <a:solidFill>
                            <a:srgbClr val="2C3849"/>
                          </a:solidFill>
                          <a:latin typeface="Aptos"/>
                        </a:rPr>
                        <a:t>%</a:t>
                      </a:r>
                    </a:p>
                  </a:txBody>
                  <a:tcPr marL="54864" marR="36576" marT="27432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0" dirty="0">
                          <a:solidFill>
                            <a:srgbClr val="2C3849"/>
                          </a:solidFill>
                          <a:latin typeface="Aptos"/>
                        </a:rPr>
                        <a:t>47.4%</a:t>
                      </a:r>
                      <a:endParaRPr sz="1000" b="0" dirty="0">
                        <a:solidFill>
                          <a:srgbClr val="2C3849"/>
                        </a:solidFill>
                        <a:latin typeface="Aptos"/>
                      </a:endParaRPr>
                    </a:p>
                  </a:txBody>
                  <a:tcPr marL="54864" marR="36576" marT="27432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0" dirty="0">
                          <a:solidFill>
                            <a:srgbClr val="2C3849"/>
                          </a:solidFill>
                          <a:latin typeface="Aptos"/>
                        </a:rPr>
                        <a:t>64.1%</a:t>
                      </a:r>
                      <a:endParaRPr sz="1000" b="0" dirty="0">
                        <a:solidFill>
                          <a:srgbClr val="2C3849"/>
                        </a:solidFill>
                        <a:latin typeface="Aptos"/>
                      </a:endParaRPr>
                    </a:p>
                  </a:txBody>
                  <a:tcPr marL="54864" marR="36576" marT="27432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8056"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00" b="0" dirty="0">
                          <a:solidFill>
                            <a:srgbClr val="2C3849"/>
                          </a:solidFill>
                          <a:latin typeface="Aptos"/>
                        </a:rPr>
                        <a:t>K-Nearest Neighbours</a:t>
                      </a:r>
                    </a:p>
                    <a:p>
                      <a:pPr algn="l"/>
                      <a:endParaRPr sz="1000" b="0" dirty="0">
                        <a:solidFill>
                          <a:srgbClr val="2C3849"/>
                        </a:solidFill>
                        <a:latin typeface="Aptos"/>
                      </a:endParaRPr>
                    </a:p>
                  </a:txBody>
                  <a:tcPr marL="54864" marR="36576" marT="27432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00" b="0" dirty="0">
                          <a:solidFill>
                            <a:srgbClr val="2C3849"/>
                          </a:solidFill>
                          <a:latin typeface="Aptos"/>
                        </a:rPr>
                        <a:t>76.4%</a:t>
                      </a:r>
                    </a:p>
                    <a:p>
                      <a:pPr algn="ctr"/>
                      <a:endParaRPr sz="1000" b="0" dirty="0">
                        <a:solidFill>
                          <a:srgbClr val="2C3849"/>
                        </a:solidFill>
                        <a:latin typeface="Aptos"/>
                      </a:endParaRPr>
                    </a:p>
                  </a:txBody>
                  <a:tcPr marL="54864" marR="36576" marT="27432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00" b="0" dirty="0">
                          <a:solidFill>
                            <a:srgbClr val="2C3849"/>
                          </a:solidFill>
                          <a:latin typeface="Aptos"/>
                        </a:rPr>
                        <a:t>55.3%</a:t>
                      </a:r>
                    </a:p>
                    <a:p>
                      <a:pPr algn="ctr"/>
                      <a:endParaRPr sz="1000" b="0" dirty="0">
                        <a:solidFill>
                          <a:srgbClr val="2C3849"/>
                        </a:solidFill>
                        <a:latin typeface="Aptos"/>
                      </a:endParaRPr>
                    </a:p>
                  </a:txBody>
                  <a:tcPr marL="54864" marR="36576" marT="27432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00" b="0" dirty="0">
                          <a:solidFill>
                            <a:srgbClr val="2C3849"/>
                          </a:solidFill>
                          <a:latin typeface="Aptos"/>
                        </a:rPr>
                        <a:t>57.5%</a:t>
                      </a:r>
                    </a:p>
                    <a:p>
                      <a:pPr algn="ctr"/>
                      <a:endParaRPr sz="1000" b="0" dirty="0">
                        <a:solidFill>
                          <a:srgbClr val="2C3849"/>
                        </a:solidFill>
                        <a:latin typeface="Aptos"/>
                      </a:endParaRPr>
                    </a:p>
                  </a:txBody>
                  <a:tcPr marL="54864" marR="36576" marT="27432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00" b="0" dirty="0">
                          <a:solidFill>
                            <a:srgbClr val="2C3849"/>
                          </a:solidFill>
                          <a:latin typeface="Aptos"/>
                        </a:rPr>
                        <a:t>56.4%</a:t>
                      </a:r>
                    </a:p>
                    <a:p>
                      <a:pPr algn="ctr"/>
                      <a:endParaRPr sz="1000" b="0" dirty="0">
                        <a:solidFill>
                          <a:srgbClr val="2C3849"/>
                        </a:solidFill>
                        <a:latin typeface="Aptos"/>
                      </a:endParaRPr>
                    </a:p>
                  </a:txBody>
                  <a:tcPr marL="54864" marR="36576" marT="27432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00" b="0" dirty="0">
                          <a:solidFill>
                            <a:srgbClr val="2C3849"/>
                          </a:solidFill>
                          <a:latin typeface="Aptos"/>
                        </a:rPr>
                        <a:t>79%</a:t>
                      </a:r>
                    </a:p>
                    <a:p>
                      <a:pPr algn="ctr"/>
                      <a:endParaRPr sz="1000" b="0" dirty="0">
                        <a:solidFill>
                          <a:srgbClr val="2C3849"/>
                        </a:solidFill>
                        <a:latin typeface="Aptos"/>
                      </a:endParaRPr>
                    </a:p>
                  </a:txBody>
                  <a:tcPr marL="54864" marR="36576" marT="27432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48056">
                <a:tc>
                  <a:txBody>
                    <a:bodyPr/>
                    <a:lstStyle/>
                    <a:p>
                      <a:pPr algn="l"/>
                      <a:r>
                        <a:rPr lang="en-US" sz="1000" b="0" dirty="0">
                          <a:solidFill>
                            <a:srgbClr val="2C3849"/>
                          </a:solidFill>
                          <a:latin typeface="Aptos"/>
                        </a:rPr>
                        <a:t>Random Forest</a:t>
                      </a:r>
                      <a:endParaRPr lang="en-GB" sz="1000" b="0" dirty="0">
                        <a:solidFill>
                          <a:srgbClr val="2C3849"/>
                        </a:solidFill>
                        <a:latin typeface="Aptos"/>
                      </a:endParaRPr>
                    </a:p>
                  </a:txBody>
                  <a:tcPr marL="54864" marR="36576" marT="27432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0" dirty="0">
                          <a:solidFill>
                            <a:srgbClr val="2C3849"/>
                          </a:solidFill>
                          <a:latin typeface="Aptos"/>
                        </a:rPr>
                        <a:t>78.1%</a:t>
                      </a:r>
                      <a:endParaRPr lang="en-GB" sz="1000" b="0" dirty="0">
                        <a:solidFill>
                          <a:srgbClr val="2C3849"/>
                        </a:solidFill>
                        <a:latin typeface="Aptos"/>
                      </a:endParaRPr>
                    </a:p>
                  </a:txBody>
                  <a:tcPr marL="54864" marR="36576" marT="27432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0" dirty="0">
                          <a:solidFill>
                            <a:srgbClr val="2C3849"/>
                          </a:solidFill>
                          <a:latin typeface="Aptos"/>
                        </a:rPr>
                        <a:t>61.10%</a:t>
                      </a:r>
                      <a:endParaRPr sz="1000" b="0" dirty="0">
                        <a:solidFill>
                          <a:srgbClr val="2C3849"/>
                        </a:solidFill>
                        <a:latin typeface="Aptos"/>
                      </a:endParaRPr>
                    </a:p>
                  </a:txBody>
                  <a:tcPr marL="54864" marR="36576" marT="27432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0" dirty="0">
                          <a:solidFill>
                            <a:srgbClr val="2C3849"/>
                          </a:solidFill>
                          <a:latin typeface="Aptos"/>
                        </a:rPr>
                        <a:t>48.1%</a:t>
                      </a:r>
                      <a:endParaRPr sz="1000" b="0" dirty="0">
                        <a:solidFill>
                          <a:srgbClr val="2C3849"/>
                        </a:solidFill>
                        <a:latin typeface="Aptos"/>
                      </a:endParaRPr>
                    </a:p>
                  </a:txBody>
                  <a:tcPr marL="54864" marR="36576" marT="27432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0" dirty="0">
                          <a:solidFill>
                            <a:srgbClr val="2C3849"/>
                          </a:solidFill>
                          <a:latin typeface="Aptos"/>
                        </a:rPr>
                        <a:t>53.8%</a:t>
                      </a:r>
                      <a:endParaRPr sz="1000" b="0" dirty="0">
                        <a:solidFill>
                          <a:srgbClr val="2C3849"/>
                        </a:solidFill>
                        <a:latin typeface="Aptos"/>
                      </a:endParaRPr>
                    </a:p>
                  </a:txBody>
                  <a:tcPr marL="54864" marR="36576" marT="27432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0" dirty="0">
                          <a:solidFill>
                            <a:srgbClr val="2C3849"/>
                          </a:solidFill>
                          <a:latin typeface="Aptos"/>
                        </a:rPr>
                        <a:t>81.80%</a:t>
                      </a:r>
                      <a:endParaRPr sz="1000" b="0" dirty="0">
                        <a:solidFill>
                          <a:srgbClr val="2C3849"/>
                        </a:solidFill>
                        <a:latin typeface="Aptos"/>
                      </a:endParaRPr>
                    </a:p>
                  </a:txBody>
                  <a:tcPr marL="54864" marR="36576" marT="27432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48056">
                <a:tc>
                  <a:txBody>
                    <a:bodyPr/>
                    <a:lstStyle/>
                    <a:p>
                      <a:pPr algn="l"/>
                      <a:r>
                        <a:rPr lang="en-US" sz="1000" b="1" dirty="0">
                          <a:solidFill>
                            <a:srgbClr val="13233D"/>
                          </a:solidFill>
                          <a:latin typeface="Aptos"/>
                        </a:rPr>
                        <a:t>Logistic Regression</a:t>
                      </a:r>
                      <a:endParaRPr sz="1000" b="1" dirty="0">
                        <a:solidFill>
                          <a:srgbClr val="13233D"/>
                        </a:solidFill>
                        <a:latin typeface="Aptos"/>
                      </a:endParaRPr>
                    </a:p>
                  </a:txBody>
                  <a:tcPr marL="54864" marR="36576" marT="27432" marB="18288" anchor="ctr">
                    <a:solidFill>
                      <a:srgbClr val="D7F4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rgbClr val="13233D"/>
                          </a:solidFill>
                          <a:latin typeface="Aptos"/>
                        </a:rPr>
                        <a:t>80.6</a:t>
                      </a:r>
                      <a:r>
                        <a:rPr sz="1000" b="1" dirty="0">
                          <a:solidFill>
                            <a:srgbClr val="13233D"/>
                          </a:solidFill>
                          <a:latin typeface="Aptos"/>
                        </a:rPr>
                        <a:t>%</a:t>
                      </a:r>
                    </a:p>
                  </a:txBody>
                  <a:tcPr marL="54864" marR="36576" marT="27432" marB="18288" anchor="ctr">
                    <a:solidFill>
                      <a:srgbClr val="D7F4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rgbClr val="13233D"/>
                          </a:solidFill>
                          <a:latin typeface="Aptos"/>
                        </a:rPr>
                        <a:t>65.7</a:t>
                      </a:r>
                      <a:r>
                        <a:rPr sz="1000" b="1" dirty="0">
                          <a:solidFill>
                            <a:srgbClr val="13233D"/>
                          </a:solidFill>
                          <a:latin typeface="Aptos"/>
                        </a:rPr>
                        <a:t>%</a:t>
                      </a:r>
                    </a:p>
                  </a:txBody>
                  <a:tcPr marL="54864" marR="36576" marT="27432" marB="18288" anchor="ctr">
                    <a:solidFill>
                      <a:srgbClr val="D7F4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rgbClr val="13233D"/>
                          </a:solidFill>
                          <a:latin typeface="Aptos"/>
                        </a:rPr>
                        <a:t>55.9</a:t>
                      </a:r>
                      <a:r>
                        <a:rPr sz="1000" b="1" dirty="0">
                          <a:solidFill>
                            <a:srgbClr val="13233D"/>
                          </a:solidFill>
                          <a:latin typeface="Aptos"/>
                        </a:rPr>
                        <a:t>%</a:t>
                      </a:r>
                    </a:p>
                  </a:txBody>
                  <a:tcPr marL="54864" marR="36576" marT="27432" marB="18288" anchor="ctr">
                    <a:solidFill>
                      <a:srgbClr val="D7F4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rgbClr val="13233D"/>
                          </a:solidFill>
                          <a:latin typeface="Aptos"/>
                        </a:rPr>
                        <a:t>60.4</a:t>
                      </a:r>
                      <a:endParaRPr sz="1000" b="1" dirty="0">
                        <a:solidFill>
                          <a:srgbClr val="13233D"/>
                        </a:solidFill>
                        <a:latin typeface="Aptos"/>
                      </a:endParaRPr>
                    </a:p>
                  </a:txBody>
                  <a:tcPr marL="54864" marR="36576" marT="27432" marB="18288" anchor="ctr">
                    <a:solidFill>
                      <a:srgbClr val="D7F4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rgbClr val="13233D"/>
                          </a:solidFill>
                          <a:latin typeface="Aptos"/>
                        </a:rPr>
                        <a:t>84.2</a:t>
                      </a:r>
                      <a:endParaRPr sz="1000" b="1" dirty="0">
                        <a:solidFill>
                          <a:srgbClr val="13233D"/>
                        </a:solidFill>
                        <a:latin typeface="Aptos"/>
                      </a:endParaRPr>
                    </a:p>
                  </a:txBody>
                  <a:tcPr marL="54864" marR="36576" marT="27432" marB="18288" anchor="ctr">
                    <a:solidFill>
                      <a:srgbClr val="D7F4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658368" y="5068157"/>
            <a:ext cx="6903720" cy="1051560"/>
          </a:xfrm>
          <a:prstGeom prst="roundRect">
            <a:avLst/>
          </a:prstGeom>
          <a:solidFill>
            <a:srgbClr val="D7F4EE"/>
          </a:solidFill>
          <a:ln>
            <a:solidFill>
              <a:srgbClr val="D7F4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303020" y="5461254"/>
            <a:ext cx="6355080" cy="32008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i="0" dirty="0">
                <a:solidFill>
                  <a:srgbClr val="13233D"/>
                </a:solidFill>
                <a:latin typeface="Aptos"/>
              </a:rPr>
              <a:t>Current leading </a:t>
            </a:r>
            <a:r>
              <a:rPr lang="en-US" sz="1600" b="1" i="0" dirty="0">
                <a:solidFill>
                  <a:srgbClr val="13233D"/>
                </a:solidFill>
                <a:latin typeface="Aptos"/>
              </a:rPr>
              <a:t>Algorithm</a:t>
            </a:r>
            <a:r>
              <a:rPr sz="1600" b="1" i="0" dirty="0">
                <a:solidFill>
                  <a:srgbClr val="13233D"/>
                </a:solidFill>
                <a:latin typeface="Aptos"/>
              </a:rPr>
              <a:t>: </a:t>
            </a:r>
            <a:r>
              <a:rPr lang="en-US" sz="1600" b="1" dirty="0">
                <a:solidFill>
                  <a:srgbClr val="13233D"/>
                </a:solidFill>
                <a:latin typeface="Aptos"/>
              </a:rPr>
              <a:t>Logistic Regression</a:t>
            </a:r>
            <a:endParaRPr sz="1600" b="1" i="0" dirty="0">
              <a:solidFill>
                <a:srgbClr val="13233D"/>
              </a:solidFill>
              <a:latin typeface="Aptos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310896"/>
            <a:ext cx="7772400" cy="2286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009999"/>
                </a:solidFill>
                <a:latin typeface="Aptos"/>
              </a:rPr>
              <a:t>04 • RECOMMENDATION &amp; 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12648"/>
            <a:ext cx="11064240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 dirty="0">
                <a:solidFill>
                  <a:srgbClr val="13233D"/>
                </a:solidFill>
                <a:latin typeface="Aptos"/>
              </a:rPr>
              <a:t>Recommendation: pilot the model, measure business impact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25296"/>
            <a:ext cx="11018520" cy="22860"/>
          </a:xfrm>
          <a:prstGeom prst="rect">
            <a:avLst/>
          </a:prstGeom>
          <a:solidFill>
            <a:srgbClr val="DDE4ED"/>
          </a:solidFill>
          <a:ln>
            <a:solidFill>
              <a:srgbClr val="DDE4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20040" y="6629061"/>
            <a:ext cx="7772400" cy="16459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 i="0">
                <a:solidFill>
                  <a:srgbClr val="647387"/>
                </a:solidFill>
                <a:latin typeface="Aptos"/>
              </a:rPr>
              <a:t>TELECOM CUSTOMER CHURN  •  5/5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33435" y="1386332"/>
            <a:ext cx="4983480" cy="5242729"/>
          </a:xfrm>
          <a:prstGeom prst="roundRect">
            <a:avLst/>
          </a:prstGeom>
          <a:solidFill>
            <a:srgbClr val="13233D"/>
          </a:solidFill>
          <a:ln>
            <a:solidFill>
              <a:srgbClr val="1323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19235" y="1392022"/>
            <a:ext cx="4297680" cy="36576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 i="0" dirty="0">
                <a:solidFill>
                  <a:srgbClr val="FFFFFF"/>
                </a:solidFill>
                <a:latin typeface="Aptos"/>
              </a:rPr>
              <a:t>Recommendation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808750"/>
            <a:ext cx="4251960" cy="4776692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lvl="0"/>
            <a:r>
              <a:rPr lang="en-GB" sz="1400" b="1" dirty="0">
                <a:solidFill>
                  <a:schemeClr val="bg1"/>
                </a:solidFill>
              </a:rPr>
              <a:t>Prioritise at-risk customers:</a:t>
            </a:r>
            <a:r>
              <a:rPr lang="en-GB" sz="1400" dirty="0">
                <a:solidFill>
                  <a:schemeClr val="bg1"/>
                </a:solidFill>
              </a:rPr>
              <a:t> Use the Logistic Regression model to identify customers who are likely to churn and target them with retention offers, personalised support, or contract incentives.</a:t>
            </a:r>
          </a:p>
          <a:p>
            <a:pPr lvl="0"/>
            <a:endParaRPr lang="en-GB" sz="1400" dirty="0">
              <a:solidFill>
                <a:schemeClr val="bg1"/>
              </a:solidFill>
            </a:endParaRPr>
          </a:p>
          <a:p>
            <a:pPr lvl="0"/>
            <a:r>
              <a:rPr lang="en-GB" sz="1400" b="1" dirty="0">
                <a:solidFill>
                  <a:schemeClr val="bg1"/>
                </a:solidFill>
              </a:rPr>
              <a:t>Focus on customer retention:</a:t>
            </a:r>
            <a:r>
              <a:rPr lang="en-GB" sz="1400" dirty="0">
                <a:solidFill>
                  <a:schemeClr val="bg1"/>
                </a:solidFill>
              </a:rPr>
              <a:t> Investigate customers with short-term contracts, limited-service support, or other characteristics associated with churn, and develop targeted strategies to improve their satisfaction and loyalty.</a:t>
            </a:r>
          </a:p>
          <a:p>
            <a:pPr lvl="0"/>
            <a:endParaRPr lang="en-GB" sz="1400" dirty="0">
              <a:solidFill>
                <a:schemeClr val="bg1"/>
              </a:solidFill>
            </a:endParaRPr>
          </a:p>
          <a:p>
            <a:pPr lvl="0"/>
            <a:r>
              <a:rPr lang="en-GB" sz="1400" b="1" dirty="0">
                <a:solidFill>
                  <a:schemeClr val="bg1"/>
                </a:solidFill>
              </a:rPr>
              <a:t>Monitor model performance:</a:t>
            </a:r>
            <a:r>
              <a:rPr lang="en-GB" sz="1400" dirty="0">
                <a:solidFill>
                  <a:schemeClr val="bg1"/>
                </a:solidFill>
              </a:rPr>
              <a:t> Regularly evaluate the model using precision, recall, F1-score, and ROC-AUC. Although Logistic Regression achieved 80.6% accuracy and an ROC-AUC of 84.2%, it still failed to identify some customers who churned.</a:t>
            </a:r>
          </a:p>
          <a:p>
            <a:pPr lvl="0"/>
            <a:endParaRPr lang="en-GB" sz="1400" dirty="0">
              <a:solidFill>
                <a:schemeClr val="bg1"/>
              </a:solidFill>
            </a:endParaRPr>
          </a:p>
          <a:p>
            <a:pPr lvl="0"/>
            <a:r>
              <a:rPr lang="en-GB" sz="1400" b="1" dirty="0">
                <a:solidFill>
                  <a:schemeClr val="bg1"/>
                </a:solidFill>
              </a:rPr>
              <a:t>Test and improve retention campaigns:</a:t>
            </a:r>
            <a:r>
              <a:rPr lang="en-GB" sz="1400" dirty="0">
                <a:solidFill>
                  <a:schemeClr val="bg1"/>
                </a:solidFill>
              </a:rPr>
              <a:t> Run a pilot campaign targeting customers flagged as high risk. Track retention rates, campaign costs, and revenue saved to determine whether the model helps reduce churn and improves the return on investment.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6480" y="1627632"/>
            <a:ext cx="3200400" cy="3200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 i="0">
                <a:solidFill>
                  <a:srgbClr val="13233D"/>
                </a:solidFill>
                <a:latin typeface="Aptos"/>
              </a:rPr>
              <a:t>Next steps</a:t>
            </a:r>
          </a:p>
        </p:txBody>
      </p:sp>
      <p:sp>
        <p:nvSpPr>
          <p:cNvPr id="11" name="Oval 10"/>
          <p:cNvSpPr/>
          <p:nvPr/>
        </p:nvSpPr>
        <p:spPr>
          <a:xfrm>
            <a:off x="6144768" y="2148840"/>
            <a:ext cx="420624" cy="420624"/>
          </a:xfrm>
          <a:prstGeom prst="ellipse">
            <a:avLst/>
          </a:prstGeom>
          <a:solidFill>
            <a:srgbClr val="009999"/>
          </a:solidFill>
          <a:ln>
            <a:solidFill>
              <a:srgbClr val="00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144768" y="2185416"/>
            <a:ext cx="420624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75087" y="2182164"/>
            <a:ext cx="3200400" cy="44319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r>
              <a:rPr lang="en-GB" sz="1200" dirty="0"/>
              <a:t>Fine-tune the Logistic Regression model to improve churn prediction.</a:t>
            </a:r>
            <a:endParaRPr sz="1200" b="0" i="0" dirty="0">
              <a:solidFill>
                <a:srgbClr val="2C3849"/>
              </a:solidFill>
              <a:latin typeface="Aptos"/>
            </a:endParaRPr>
          </a:p>
        </p:txBody>
      </p:sp>
      <p:sp>
        <p:nvSpPr>
          <p:cNvPr id="15" name="Oval 14"/>
          <p:cNvSpPr/>
          <p:nvPr/>
        </p:nvSpPr>
        <p:spPr>
          <a:xfrm>
            <a:off x="6144768" y="3008376"/>
            <a:ext cx="420624" cy="420624"/>
          </a:xfrm>
          <a:prstGeom prst="ellipse">
            <a:avLst/>
          </a:prstGeom>
          <a:solidFill>
            <a:srgbClr val="009999"/>
          </a:solidFill>
          <a:ln>
            <a:solidFill>
              <a:srgbClr val="00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144768" y="3044952"/>
            <a:ext cx="420624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75087" y="3015807"/>
            <a:ext cx="3154680" cy="44319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r>
              <a:rPr lang="en-GB" sz="1200"/>
              <a:t>Adjust the prediction threshold to identify more at-risk customers.</a:t>
            </a:r>
            <a:endParaRPr sz="1200" b="0" i="0" dirty="0">
              <a:solidFill>
                <a:srgbClr val="2C3849"/>
              </a:solidFill>
              <a:latin typeface="Aptos"/>
            </a:endParaRPr>
          </a:p>
        </p:txBody>
      </p:sp>
      <p:sp>
        <p:nvSpPr>
          <p:cNvPr id="19" name="Oval 18"/>
          <p:cNvSpPr/>
          <p:nvPr/>
        </p:nvSpPr>
        <p:spPr>
          <a:xfrm>
            <a:off x="6144768" y="3867912"/>
            <a:ext cx="420624" cy="420624"/>
          </a:xfrm>
          <a:prstGeom prst="ellipse">
            <a:avLst/>
          </a:prstGeom>
          <a:solidFill>
            <a:srgbClr val="009999"/>
          </a:solidFill>
          <a:ln>
            <a:solidFill>
              <a:srgbClr val="00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144768" y="3904488"/>
            <a:ext cx="420624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75087" y="3827177"/>
            <a:ext cx="3154680" cy="44319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r>
              <a:rPr lang="en-GB" sz="1200" dirty="0"/>
              <a:t>Run a pilot retention campaign targeting customers predicted to churn.</a:t>
            </a:r>
            <a:endParaRPr sz="1200" b="0" i="0" dirty="0">
              <a:solidFill>
                <a:srgbClr val="2C3849"/>
              </a:solidFill>
              <a:latin typeface="Aptos"/>
            </a:endParaRPr>
          </a:p>
        </p:txBody>
      </p:sp>
      <p:sp>
        <p:nvSpPr>
          <p:cNvPr id="23" name="Oval 22"/>
          <p:cNvSpPr/>
          <p:nvPr/>
        </p:nvSpPr>
        <p:spPr>
          <a:xfrm>
            <a:off x="6144768" y="4727448"/>
            <a:ext cx="420624" cy="420624"/>
          </a:xfrm>
          <a:prstGeom prst="ellipse">
            <a:avLst/>
          </a:prstGeom>
          <a:solidFill>
            <a:srgbClr val="009999"/>
          </a:solidFill>
          <a:ln>
            <a:solidFill>
              <a:srgbClr val="00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144768" y="4764024"/>
            <a:ext cx="420624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75087" y="4709837"/>
            <a:ext cx="3154680" cy="44319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r>
              <a:rPr lang="en-GB" sz="1200"/>
              <a:t>Monitor churn rates, retention costs, and revenue saved to measure business impact.</a:t>
            </a:r>
            <a:endParaRPr sz="1200" b="0" i="0" dirty="0">
              <a:solidFill>
                <a:srgbClr val="2C3849"/>
              </a:solidFill>
              <a:latin typeface="Aptos"/>
            </a:endParaRPr>
          </a:p>
        </p:txBody>
      </p:sp>
      <p:sp>
        <p:nvSpPr>
          <p:cNvPr id="27" name="Rounded Rectangle 26"/>
          <p:cNvSpPr/>
          <p:nvPr/>
        </p:nvSpPr>
        <p:spPr>
          <a:xfrm>
            <a:off x="6144767" y="5477256"/>
            <a:ext cx="5361433" cy="722376"/>
          </a:xfrm>
          <a:prstGeom prst="roundRect">
            <a:avLst/>
          </a:prstGeom>
          <a:solidFill>
            <a:srgbClr val="FF0000"/>
          </a:solidFill>
          <a:ln>
            <a:solidFill>
              <a:srgbClr val="FFF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>
              <a:highlight>
                <a:srgbClr val="FFFF00"/>
              </a:highlight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6203696" y="5528915"/>
            <a:ext cx="4800600" cy="627864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lang="en-GB" sz="1200" b="1"/>
              <a:t>Risk:</a:t>
            </a:r>
            <a:r>
              <a:rPr lang="en-GB" sz="1200"/>
              <a:t> The model may incorrectly classify customers, leading to missed churners or wasted retention spending; its predictions should be validated through real-world testing.</a:t>
            </a:r>
            <a:endParaRPr sz="1200" b="1" i="0" dirty="0">
              <a:solidFill>
                <a:srgbClr val="13233D"/>
              </a:solidFill>
              <a:latin typeface="Aptos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832</TotalTime>
  <Words>759</Words>
  <Application>Microsoft Office PowerPoint</Application>
  <PresentationFormat>Widescreen</PresentationFormat>
  <Paragraphs>105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9" baseType="lpstr">
      <vt:lpstr>Aptos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Telecom Customer Churn Prediction — Business Briefing</dc:title>
  <dc:subject>Five-slide business presentation on churn prediction</dc:subject>
  <dc:creator>OpenAI</dc:creator>
  <cp:keywords>telecom, churn, machine learning, retention, business analytics</cp:keywords>
  <dc:description>generated using python-pptx</dc:description>
  <cp:lastModifiedBy>Akinlolu Oyetakin</cp:lastModifiedBy>
  <cp:revision>2</cp:revision>
  <dcterms:created xsi:type="dcterms:W3CDTF">2013-01-27T09:14:16Z</dcterms:created>
  <dcterms:modified xsi:type="dcterms:W3CDTF">2026-10-12T20:05:01Z</dcterms:modified>
  <cp:category/>
</cp:coreProperties>
</file>