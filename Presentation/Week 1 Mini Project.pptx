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nlolu Oyetakin" userId="fa5cef570f93ac02" providerId="LiveId" clId="{78872068-8B10-4F26-BF97-C82E0CEFE7C4}"/>
    <pc:docChg chg="modSld">
      <pc:chgData name="Akinlolu Oyetakin" userId="fa5cef570f93ac02" providerId="LiveId" clId="{78872068-8B10-4F26-BF97-C82E0CEFE7C4}" dt="2026-10-12T09:57:38.225" v="4" actId="20577"/>
      <pc:docMkLst>
        <pc:docMk/>
      </pc:docMkLst>
      <pc:sldChg chg="addSp modSp mod">
        <pc:chgData name="Akinlolu Oyetakin" userId="fa5cef570f93ac02" providerId="LiveId" clId="{78872068-8B10-4F26-BF97-C82E0CEFE7C4}" dt="2026-10-12T09:57:19.011" v="2" actId="20577"/>
        <pc:sldMkLst>
          <pc:docMk/>
          <pc:sldMk cId="0" sldId="257"/>
        </pc:sldMkLst>
        <pc:spChg chg="add mod">
          <ac:chgData name="Akinlolu Oyetakin" userId="fa5cef570f93ac02" providerId="LiveId" clId="{78872068-8B10-4F26-BF97-C82E0CEFE7C4}" dt="2026-10-12T09:57:19.011" v="2" actId="20577"/>
          <ac:spMkLst>
            <pc:docMk/>
            <pc:sldMk cId="0" sldId="257"/>
            <ac:spMk id="24" creationId="{9DB2A91B-E53E-AFD3-04BF-9E87B3029AE2}"/>
          </ac:spMkLst>
        </pc:spChg>
      </pc:sldChg>
      <pc:sldChg chg="modSp mod">
        <pc:chgData name="Akinlolu Oyetakin" userId="fa5cef570f93ac02" providerId="LiveId" clId="{78872068-8B10-4F26-BF97-C82E0CEFE7C4}" dt="2026-10-12T09:57:38.225" v="4" actId="20577"/>
        <pc:sldMkLst>
          <pc:docMk/>
          <pc:sldMk cId="0" sldId="258"/>
        </pc:sldMkLst>
        <pc:spChg chg="mod">
          <ac:chgData name="Akinlolu Oyetakin" userId="fa5cef570f93ac02" providerId="LiveId" clId="{78872068-8B10-4F26-BF97-C82E0CEFE7C4}" dt="2026-10-12T09:57:38.225" v="4" actId="20577"/>
          <ac:spMkLst>
            <pc:docMk/>
            <pc:sldMk cId="0" sldId="258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89720" y="777240"/>
            <a:ext cx="2331720" cy="2331720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46920" y="1234440"/>
            <a:ext cx="1417320" cy="1417320"/>
          </a:xfrm>
          <a:prstGeom prst="ellipse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1691640"/>
            <a:ext cx="502920" cy="502920"/>
          </a:xfrm>
          <a:prstGeom prst="ellipse">
            <a:avLst/>
          </a:prstGeom>
          <a:solidFill>
            <a:srgbClr val="F4B53F"/>
          </a:solidFill>
          <a:ln>
            <a:solidFill>
              <a:srgbClr val="F4B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06840" y="3657600"/>
            <a:ext cx="2788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PREDICT  →  PRIORITISE  →  RETAIN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7406640" cy="102797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3100" b="1" i="0" dirty="0">
                <a:solidFill>
                  <a:srgbClr val="FFFFFF"/>
                </a:solidFill>
                <a:latin typeface="Aptos"/>
              </a:rPr>
              <a:t>A Data-led Approach To
Customer Retention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7223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 dirty="0">
                <a:solidFill>
                  <a:srgbClr val="D7F4EE"/>
                </a:solidFill>
                <a:latin typeface="Aptos"/>
              </a:rPr>
              <a:t>Telecom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4B53F"/>
                </a:solidFill>
                <a:latin typeface="Aptos"/>
              </a:rP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05072"/>
            <a:ext cx="72694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Aptos"/>
              </a:rPr>
              <a:t>Can we identify customers at risk of leaving early enough to focus limited retention resources where they may have the greatest impact?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623560"/>
            <a:ext cx="7178040" cy="32004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7269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7F4EE"/>
                </a:solidFill>
                <a:latin typeface="Aptos"/>
              </a:rPr>
              <a:t>Project focus: predict churn, understand model trade-offs, and support smarter retention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CFE1"/>
                </a:solidFill>
                <a:latin typeface="Aptos"/>
              </a:rPr>
              <a:t>BUSINESS CASE  •  MACHINE LEARNING  •  CUSTOMER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999"/>
                </a:solidFill>
                <a:latin typeface="Aptos"/>
              </a:rPr>
              <a:t>01 •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D"/>
                </a:solidFill>
                <a:latin typeface="Aptos"/>
              </a:rPr>
              <a:t>The business problem: limited budget, costly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18520" cy="22860"/>
          </a:xfrm>
          <a:prstGeom prst="rect">
            <a:avLst/>
          </a:prstGeom>
          <a:solidFill>
            <a:srgbClr val="DDE4ED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233D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48006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C3849"/>
                </a:solidFill>
                <a:latin typeface="Aptos"/>
              </a:rPr>
              <a:t>Customers can leave for competitors. The company cannot give every customer the same level of retention attention, so it needs a practical way to prioritise who may be at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64992"/>
            <a:ext cx="226771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3364992"/>
            <a:ext cx="64008" cy="1417320"/>
          </a:xfrm>
          <a:prstGeom prst="rect">
            <a:avLst/>
          </a:prstGeom>
          <a:solidFill>
            <a:srgbClr val="D35757"/>
          </a:solidFill>
          <a:ln>
            <a:solidFill>
              <a:srgbClr val="D3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3511296"/>
            <a:ext cx="1901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D"/>
                </a:solidFill>
                <a:latin typeface="Aptos"/>
              </a:rPr>
              <a:t>Revenue at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877056"/>
            <a:ext cx="190195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849"/>
                </a:solidFill>
                <a:latin typeface="Aptos"/>
              </a:rPr>
              <a:t>A churned customer can mean lost recurring revenue and future customer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3364992"/>
            <a:ext cx="235915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90672" y="3364992"/>
            <a:ext cx="64008" cy="1417320"/>
          </a:xfrm>
          <a:prstGeom prst="rect">
            <a:avLst/>
          </a:prstGeom>
          <a:solidFill>
            <a:srgbClr val="F4B53F"/>
          </a:solidFill>
          <a:ln>
            <a:solidFill>
              <a:srgbClr val="F4B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3511296"/>
            <a:ext cx="199339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D"/>
                </a:solidFill>
                <a:latin typeface="Aptos"/>
              </a:rPr>
              <a:t>Limited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877056"/>
            <a:ext cx="199339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849"/>
                </a:solidFill>
                <a:latin typeface="Aptos"/>
              </a:rPr>
              <a:t>Discounts, service calls and offers cost money and staff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572768"/>
            <a:ext cx="5440680" cy="3200400"/>
          </a:xfrm>
          <a:prstGeom prst="roundRect">
            <a:avLst/>
          </a:prstGeom>
          <a:solidFill>
            <a:srgbClr val="13233D"/>
          </a:solidFill>
          <a:ln>
            <a:solidFill>
              <a:srgbClr val="13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874519"/>
            <a:ext cx="4800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What the model can enable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50592"/>
            <a:ext cx="4663440" cy="108850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400"/>
              </a:spcAft>
            </a:pPr>
            <a:r>
              <a:rPr sz="1500" b="1" dirty="0">
                <a:solidFill>
                  <a:srgbClr val="F4B53F"/>
                </a:solidFill>
                <a:latin typeface="Aptos"/>
              </a:rPr>
              <a:t>• 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Prioritize:</a:t>
            </a:r>
            <a:r>
              <a:rPr sz="1500" dirty="0">
                <a:solidFill>
                  <a:srgbClr val="FFFFFF"/>
                </a:solidFill>
                <a:latin typeface="Aptos"/>
              </a:rPr>
              <a:t> rank customers by estimated churn risk.</a:t>
            </a:r>
          </a:p>
          <a:p>
            <a:pPr>
              <a:spcAft>
                <a:spcPts val="1400"/>
              </a:spcAft>
            </a:pPr>
            <a:r>
              <a:rPr sz="1500" b="1" dirty="0">
                <a:solidFill>
                  <a:srgbClr val="F4B53F"/>
                </a:solidFill>
                <a:latin typeface="Aptos"/>
              </a:rPr>
              <a:t>• 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Focus:</a:t>
            </a:r>
            <a:r>
              <a:rPr sz="1500" dirty="0">
                <a:solidFill>
                  <a:srgbClr val="FFFFFF"/>
                </a:solidFill>
                <a:latin typeface="Aptos"/>
              </a:rPr>
              <a:t> direct limited outreach to a manageable group.</a:t>
            </a:r>
          </a:p>
          <a:p>
            <a:pPr>
              <a:spcAft>
                <a:spcPts val="1400"/>
              </a:spcAft>
            </a:pPr>
            <a:r>
              <a:rPr sz="1500" b="1" dirty="0">
                <a:solidFill>
                  <a:srgbClr val="F4B53F"/>
                </a:solidFill>
                <a:latin typeface="Aptos"/>
              </a:rPr>
              <a:t>• 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Learn:</a:t>
            </a:r>
            <a:r>
              <a:rPr sz="1500" dirty="0">
                <a:solidFill>
                  <a:srgbClr val="FFFFFF"/>
                </a:solidFill>
                <a:latin typeface="Aptos"/>
              </a:rPr>
              <a:t> measure which interventions </a:t>
            </a:r>
            <a:r>
              <a:rPr lang="en-GB" sz="1500" dirty="0">
                <a:solidFill>
                  <a:srgbClr val="FFFFFF"/>
                </a:solidFill>
                <a:latin typeface="Aptos"/>
              </a:rPr>
              <a:t>reduce</a:t>
            </a:r>
            <a:r>
              <a:rPr sz="1500" dirty="0">
                <a:solidFill>
                  <a:srgbClr val="FFFFFF"/>
                </a:solidFill>
                <a:latin typeface="Aptos"/>
              </a:rPr>
              <a:t> churn.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166360"/>
            <a:ext cx="10771632" cy="822960"/>
          </a:xfrm>
          <a:prstGeom prst="roundRect">
            <a:avLst/>
          </a:prstGeom>
          <a:solidFill>
            <a:srgbClr val="D7F4EE"/>
          </a:solidFill>
          <a:ln>
            <a:solidFill>
              <a:srgbClr val="D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5358384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233D"/>
                </a:solidFill>
                <a:latin typeface="Aptos"/>
              </a:rPr>
              <a:t>Business value to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5321808"/>
            <a:ext cx="81838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D"/>
                </a:solidFill>
                <a:latin typeface="Aptos"/>
              </a:rPr>
              <a:t>Fewer avoidable losses • better-targeted retention spend • clearer visibility of at-risk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144768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47387"/>
                </a:solidFill>
                <a:latin typeface="Aptos"/>
              </a:rPr>
              <a:t>Cost note: financial impact has not yet been quantified; estimate it using customer lifetime value, intervention cost and measured retention uplift.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B2A91B-E53E-AFD3-04BF-9E87B3029AE2}"/>
              </a:ext>
            </a:extLst>
          </p:cNvPr>
          <p:cNvSpPr txBox="1"/>
          <p:nvPr/>
        </p:nvSpPr>
        <p:spPr>
          <a:xfrm>
            <a:off x="594360" y="6519672"/>
            <a:ext cx="777240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dirty="0">
                <a:solidFill>
                  <a:srgbClr val="647387"/>
                </a:solidFill>
                <a:latin typeface="Aptos"/>
              </a:rPr>
              <a:t>TELECOM CUSTOMER CHURN  •  </a:t>
            </a:r>
            <a:r>
              <a:rPr lang="en-US" sz="800" b="1" i="0" dirty="0">
                <a:solidFill>
                  <a:srgbClr val="647387"/>
                </a:solidFill>
                <a:latin typeface="Aptos"/>
              </a:rPr>
              <a:t>2</a:t>
            </a:r>
            <a:r>
              <a:rPr sz="800" b="1" i="0" dirty="0">
                <a:solidFill>
                  <a:srgbClr val="647387"/>
                </a:solidFill>
                <a:latin typeface="Aptos"/>
              </a:rPr>
              <a:t>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999"/>
                </a:solidFill>
                <a:latin typeface="Aptos"/>
              </a:rPr>
              <a:t>02 • 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D"/>
                </a:solidFill>
                <a:latin typeface="Aptos"/>
              </a:rPr>
              <a:t>The data: customer and service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18520" cy="22860"/>
          </a:xfrm>
          <a:prstGeom prst="rect">
            <a:avLst/>
          </a:prstGeom>
          <a:solidFill>
            <a:srgbClr val="DDE4ED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dirty="0">
                <a:solidFill>
                  <a:srgbClr val="647387"/>
                </a:solidFill>
                <a:latin typeface="Aptos"/>
              </a:rPr>
              <a:t>TELECOM CUSTOMER CHURN  •  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618488"/>
            <a:ext cx="1664208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9999"/>
                </a:solidFill>
                <a:latin typeface="Aptos"/>
              </a:rPr>
              <a:t>7,043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03120"/>
            <a:ext cx="170078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3233D"/>
                </a:solidFill>
                <a:latin typeface="Aptos"/>
              </a:rPr>
              <a:t>Customer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41448"/>
            <a:ext cx="1700784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dirty="0">
                <a:solidFill>
                  <a:srgbClr val="647387"/>
                </a:solidFill>
                <a:latin typeface="Aptos"/>
              </a:rPr>
              <a:t>From Kaggle</a:t>
            </a:r>
            <a:endParaRPr sz="900" b="0" i="0" dirty="0">
              <a:solidFill>
                <a:srgbClr val="64738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481328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71216" y="1618488"/>
            <a:ext cx="1664208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 dirty="0">
                <a:solidFill>
                  <a:srgbClr val="1D3557"/>
                </a:solidFill>
                <a:latin typeface="Aptos"/>
              </a:rPr>
              <a:t>2</a:t>
            </a:r>
            <a:r>
              <a:rPr lang="en-US" sz="2600" b="1" i="0" dirty="0">
                <a:solidFill>
                  <a:srgbClr val="1D3557"/>
                </a:solidFill>
                <a:latin typeface="Aptos"/>
              </a:rPr>
              <a:t>1</a:t>
            </a:r>
            <a:endParaRPr sz="2600" b="1" i="0" dirty="0">
              <a:solidFill>
                <a:srgbClr val="1D355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52928" y="2103120"/>
            <a:ext cx="170078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3233D"/>
                </a:solidFill>
                <a:latin typeface="Aptos"/>
              </a:rP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441448"/>
            <a:ext cx="1700784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 dirty="0">
                <a:solidFill>
                  <a:srgbClr val="647387"/>
                </a:solidFill>
                <a:latin typeface="Aptos"/>
              </a:rPr>
              <a:t>Customer, service, billing</a:t>
            </a:r>
            <a:r>
              <a:rPr lang="en-GB" sz="900" dirty="0">
                <a:solidFill>
                  <a:srgbClr val="647387"/>
                </a:solidFill>
                <a:latin typeface="Aptos"/>
              </a:rPr>
              <a:t> etc</a:t>
            </a:r>
            <a:endParaRPr sz="900" b="0" i="0" dirty="0">
              <a:solidFill>
                <a:srgbClr val="64738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28032" y="1481328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56048" y="1618488"/>
            <a:ext cx="1664208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4B53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03120"/>
            <a:ext cx="170078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3233D"/>
                </a:solidFill>
                <a:latin typeface="Aptos"/>
              </a:rP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441448"/>
            <a:ext cx="1700784" cy="3200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387"/>
                </a:solidFill>
                <a:latin typeface="Aptos"/>
              </a:rPr>
              <a:t>Churn: 1 = yes, 0 = 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27248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13233D"/>
                </a:solidFill>
                <a:latin typeface="Aptos"/>
              </a:rPr>
              <a:t>Key features 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5394960" cy="13449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Contract — </a:t>
            </a:r>
            <a:r>
              <a:rPr sz="1300" dirty="0">
                <a:solidFill>
                  <a:srgbClr val="2C3849"/>
                </a:solidFill>
                <a:latin typeface="Aptos"/>
              </a:rPr>
              <a:t>strongest categorical association</a:t>
            </a:r>
            <a:r>
              <a:rPr lang="en-GB" sz="1300" dirty="0">
                <a:solidFill>
                  <a:srgbClr val="2C3849"/>
                </a:solidFill>
                <a:latin typeface="Aptos"/>
              </a:rPr>
              <a:t> with 42.71% churn rate</a:t>
            </a:r>
            <a:endParaRPr sz="1300" dirty="0">
              <a:solidFill>
                <a:srgbClr val="2C3849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Online Security — </a:t>
            </a:r>
            <a:r>
              <a:rPr sz="1300" dirty="0">
                <a:solidFill>
                  <a:srgbClr val="2C3849"/>
                </a:solidFill>
                <a:latin typeface="Aptos"/>
              </a:rPr>
              <a:t>service-related churn signal</a:t>
            </a:r>
            <a:r>
              <a:rPr lang="en-GB" sz="1300" dirty="0">
                <a:solidFill>
                  <a:srgbClr val="2C3849"/>
                </a:solidFill>
                <a:latin typeface="Aptos"/>
              </a:rPr>
              <a:t> with 41.46% churn rate</a:t>
            </a:r>
            <a:endParaRPr sz="1300" dirty="0">
              <a:solidFill>
                <a:srgbClr val="2C3849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Tech Support — </a:t>
            </a:r>
            <a:r>
              <a:rPr sz="1300" dirty="0">
                <a:solidFill>
                  <a:srgbClr val="2C3849"/>
                </a:solidFill>
                <a:latin typeface="Aptos"/>
              </a:rPr>
              <a:t>service-related churn signal</a:t>
            </a:r>
            <a:r>
              <a:rPr lang="en-GB" sz="1300" dirty="0">
                <a:solidFill>
                  <a:srgbClr val="2C3849"/>
                </a:solidFill>
                <a:latin typeface="Aptos"/>
              </a:rPr>
              <a:t> with 41.63% churn rate</a:t>
            </a:r>
            <a:endParaRPr sz="1300" dirty="0">
              <a:solidFill>
                <a:srgbClr val="2C3849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Internet Service — </a:t>
            </a:r>
            <a:r>
              <a:rPr sz="1300" dirty="0">
                <a:solidFill>
                  <a:srgbClr val="2C3849"/>
                </a:solidFill>
                <a:latin typeface="Aptos"/>
              </a:rPr>
              <a:t>service type</a:t>
            </a:r>
            <a:r>
              <a:rPr lang="en-GB" sz="1300" dirty="0">
                <a:solidFill>
                  <a:srgbClr val="2C3849"/>
                </a:solidFill>
                <a:latin typeface="Aptos"/>
              </a:rPr>
              <a:t> with 41.89% churn rate</a:t>
            </a:r>
            <a:endParaRPr sz="1300" dirty="0">
              <a:solidFill>
                <a:srgbClr val="2C3849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Payment Method — </a:t>
            </a:r>
            <a:r>
              <a:rPr sz="1300" dirty="0">
                <a:solidFill>
                  <a:srgbClr val="2C3849"/>
                </a:solidFill>
                <a:latin typeface="Aptos"/>
              </a:rPr>
              <a:t>billing behavior</a:t>
            </a:r>
            <a:r>
              <a:rPr lang="en-GB" sz="1300" dirty="0">
                <a:solidFill>
                  <a:srgbClr val="2C3849"/>
                </a:solidFill>
                <a:latin typeface="Aptos"/>
              </a:rPr>
              <a:t> with 45.28% churn rate </a:t>
            </a:r>
            <a:endParaRPr sz="1300" dirty="0">
              <a:solidFill>
                <a:srgbClr val="2C384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46520" y="1481328"/>
            <a:ext cx="4983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1773936"/>
            <a:ext cx="4343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233D"/>
                </a:solidFill>
                <a:latin typeface="Aptos"/>
              </a:rPr>
              <a:t>Data-quality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267712"/>
            <a:ext cx="4297680" cy="20990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Missing values:</a:t>
            </a:r>
            <a:r>
              <a:rPr sz="1300" dirty="0">
                <a:solidFill>
                  <a:srgbClr val="2C3849"/>
                </a:solidFill>
                <a:latin typeface="Aptos"/>
              </a:rPr>
              <a:t> </a:t>
            </a:r>
            <a:r>
              <a:rPr lang="en-GB" sz="1300" dirty="0">
                <a:solidFill>
                  <a:srgbClr val="2C3849"/>
                </a:solidFill>
                <a:latin typeface="Aptos"/>
              </a:rPr>
              <a:t>no null values. Identified 11 </a:t>
            </a:r>
            <a:r>
              <a:rPr sz="1300" dirty="0">
                <a:solidFill>
                  <a:srgbClr val="2C3849"/>
                </a:solidFill>
                <a:latin typeface="Aptos"/>
              </a:rPr>
              <a:t>blank strings</a:t>
            </a:r>
            <a:r>
              <a:rPr lang="en-GB" sz="1300" dirty="0">
                <a:solidFill>
                  <a:srgbClr val="2C3849"/>
                </a:solidFill>
                <a:latin typeface="Aptos"/>
              </a:rPr>
              <a:t> in “Total Charges Feature</a:t>
            </a:r>
            <a:r>
              <a:rPr sz="1300" dirty="0">
                <a:solidFill>
                  <a:srgbClr val="2C3849"/>
                </a:solidFill>
                <a:latin typeface="Aptos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Data types:</a:t>
            </a:r>
            <a:r>
              <a:rPr sz="1300" dirty="0">
                <a:solidFill>
                  <a:srgbClr val="2C3849"/>
                </a:solidFill>
                <a:latin typeface="Aptos"/>
              </a:rPr>
              <a:t> </a:t>
            </a:r>
            <a:r>
              <a:rPr lang="en-GB" sz="1300" dirty="0">
                <a:solidFill>
                  <a:srgbClr val="2C3849"/>
                </a:solidFill>
                <a:latin typeface="Aptos"/>
              </a:rPr>
              <a:t>Total Charge </a:t>
            </a:r>
            <a:r>
              <a:rPr lang="en-US" sz="1300" dirty="0">
                <a:solidFill>
                  <a:srgbClr val="2C3849"/>
                </a:solidFill>
                <a:latin typeface="Aptos"/>
              </a:rPr>
              <a:t>initially had a string data type but was changed to numeric</a:t>
            </a:r>
            <a:endParaRPr sz="1300" dirty="0">
              <a:solidFill>
                <a:srgbClr val="2C3849"/>
              </a:solidFill>
              <a:latin typeface="Aptos"/>
            </a:endParaRP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Duplicates:</a:t>
            </a:r>
            <a:r>
              <a:rPr sz="1300" dirty="0">
                <a:solidFill>
                  <a:srgbClr val="2C3849"/>
                </a:solidFill>
                <a:latin typeface="Aptos"/>
              </a:rPr>
              <a:t> </a:t>
            </a:r>
            <a:r>
              <a:rPr lang="en-US" sz="1300" dirty="0">
                <a:solidFill>
                  <a:srgbClr val="2C3849"/>
                </a:solidFill>
                <a:latin typeface="Aptos"/>
              </a:rPr>
              <a:t>No Duplicates recorded</a:t>
            </a:r>
            <a:endParaRPr sz="1300" dirty="0">
              <a:solidFill>
                <a:srgbClr val="2C3849"/>
              </a:solidFill>
              <a:latin typeface="Aptos"/>
            </a:endParaRP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Categories:</a:t>
            </a:r>
            <a:r>
              <a:rPr sz="1300" dirty="0">
                <a:solidFill>
                  <a:srgbClr val="2C3849"/>
                </a:solidFill>
                <a:latin typeface="Aptos"/>
              </a:rPr>
              <a:t> </a:t>
            </a:r>
            <a:r>
              <a:rPr lang="en-US" sz="1300" dirty="0">
                <a:solidFill>
                  <a:srgbClr val="2C3849"/>
                </a:solidFill>
                <a:latin typeface="Aptos"/>
              </a:rPr>
              <a:t>All label was consistent</a:t>
            </a:r>
            <a:endParaRPr sz="1300" dirty="0">
              <a:solidFill>
                <a:srgbClr val="2C3849"/>
              </a:solidFill>
              <a:latin typeface="Aptos"/>
            </a:endParaRP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300" b="1" dirty="0">
                <a:solidFill>
                  <a:srgbClr val="2C3849"/>
                </a:solidFill>
                <a:latin typeface="Aptos"/>
              </a:rPr>
              <a:t>Outliers:</a:t>
            </a:r>
            <a:r>
              <a:rPr sz="1300" dirty="0">
                <a:solidFill>
                  <a:srgbClr val="2C3849"/>
                </a:solidFill>
                <a:latin typeface="Aptos"/>
              </a:rPr>
              <a:t> </a:t>
            </a:r>
            <a:r>
              <a:rPr lang="en-US" sz="1300" dirty="0">
                <a:solidFill>
                  <a:srgbClr val="2C3849"/>
                </a:solidFill>
                <a:latin typeface="Aptos"/>
              </a:rPr>
              <a:t>0 Potential Outliers for Numerical and Categorical Features</a:t>
            </a:r>
            <a:endParaRPr sz="1300" dirty="0">
              <a:solidFill>
                <a:srgbClr val="2C3849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6199632"/>
            <a:ext cx="10698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47387"/>
                </a:solidFill>
                <a:latin typeface="Aptos"/>
              </a:rPr>
              <a:t>Source: Telco Customer Churn CSV used in the project. Current analysis focuses first on five selected categorical predictors.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999"/>
                </a:solidFill>
                <a:latin typeface="Aptos"/>
              </a:rPr>
              <a:t>03 • MODELLING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D"/>
                </a:solidFill>
                <a:latin typeface="Aptos"/>
              </a:rPr>
              <a:t>Approach and results: Random Forest leads on key retention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18520" cy="22860"/>
          </a:xfrm>
          <a:prstGeom prst="rect">
            <a:avLst/>
          </a:prstGeom>
          <a:solidFill>
            <a:srgbClr val="DDE4ED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387"/>
                </a:solidFill>
                <a:latin typeface="Aptos"/>
              </a:rPr>
              <a:t>TELECOM CUSTOMER CHURN  • 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44752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D"/>
                </a:solidFill>
                <a:latin typeface="Aptos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10512"/>
            <a:ext cx="4023360" cy="182203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2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200" b="1" dirty="0">
                <a:solidFill>
                  <a:srgbClr val="2C3849"/>
                </a:solidFill>
                <a:latin typeface="Aptos"/>
              </a:rPr>
              <a:t>Problem type: </a:t>
            </a:r>
            <a:r>
              <a:rPr sz="1200" dirty="0">
                <a:solidFill>
                  <a:srgbClr val="2C3849"/>
                </a:solidFill>
                <a:latin typeface="Aptos"/>
              </a:rPr>
              <a:t>binary classification — predict churn / no churn.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200" b="1" dirty="0">
                <a:solidFill>
                  <a:srgbClr val="2C3849"/>
                </a:solidFill>
                <a:latin typeface="Aptos"/>
              </a:rPr>
              <a:t>Models compared: </a:t>
            </a:r>
            <a:r>
              <a:rPr sz="1200" dirty="0">
                <a:solidFill>
                  <a:srgbClr val="2C3849"/>
                </a:solidFill>
                <a:latin typeface="Aptos"/>
              </a:rPr>
              <a:t>Logistic Regression, Decision Tre</a:t>
            </a:r>
            <a:r>
              <a:rPr lang="en-US" sz="1200" dirty="0">
                <a:solidFill>
                  <a:srgbClr val="2C3849"/>
                </a:solidFill>
                <a:latin typeface="Aptos"/>
              </a:rPr>
              <a:t>e and</a:t>
            </a:r>
            <a:r>
              <a:rPr sz="1200" dirty="0">
                <a:solidFill>
                  <a:srgbClr val="2C3849"/>
                </a:solidFill>
                <a:latin typeface="Aptos"/>
              </a:rPr>
              <a:t> Random Forest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200" b="1" dirty="0">
                <a:solidFill>
                  <a:srgbClr val="2C3849"/>
                </a:solidFill>
                <a:latin typeface="Aptos"/>
              </a:rPr>
              <a:t>Evaluation: </a:t>
            </a:r>
            <a:r>
              <a:rPr sz="1200" dirty="0">
                <a:solidFill>
                  <a:srgbClr val="2C3849"/>
                </a:solidFill>
                <a:latin typeface="Aptos"/>
              </a:rPr>
              <a:t>same train/test split; accuracy, precision, recall, F1 and ROC-AUC.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009999"/>
                </a:solidFill>
                <a:latin typeface="Aptos"/>
              </a:rPr>
              <a:t>• </a:t>
            </a:r>
            <a:r>
              <a:rPr sz="1200" b="1" dirty="0">
                <a:solidFill>
                  <a:srgbClr val="2C3849"/>
                </a:solidFill>
                <a:latin typeface="Aptos"/>
              </a:rPr>
              <a:t>Leakage control: </a:t>
            </a:r>
            <a:r>
              <a:rPr sz="1200" dirty="0">
                <a:solidFill>
                  <a:srgbClr val="2C3849"/>
                </a:solidFill>
                <a:latin typeface="Aptos"/>
              </a:rPr>
              <a:t>split first; fit preprocessing on training data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4728" y="1404427"/>
            <a:ext cx="50292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13233D"/>
                </a:solidFill>
                <a:latin typeface="Aptos"/>
              </a:rPr>
              <a:t>Test </a:t>
            </a:r>
            <a:r>
              <a:rPr sz="1600" b="1" i="0" dirty="0">
                <a:solidFill>
                  <a:srgbClr val="13233D"/>
                </a:solidFill>
                <a:latin typeface="Aptos"/>
              </a:rPr>
              <a:t>scores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722480"/>
              </p:ext>
            </p:extLst>
          </p:nvPr>
        </p:nvGraphicFramePr>
        <p:xfrm>
          <a:off x="5054600" y="1785366"/>
          <a:ext cx="632764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54864" marR="36576" marT="27432" marB="18288" anchor="ctr"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54864" marR="36576" marT="27432" marB="18288" anchor="ctr"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54864" marR="36576" marT="27432" marB="18288" anchor="ctr"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54864" marR="36576" marT="27432" marB="18288" anchor="ctr"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54864" marR="36576" marT="27432" marB="18288" anchor="ctr"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ROC-AUC</a:t>
                      </a:r>
                    </a:p>
                  </a:txBody>
                  <a:tcPr marL="54864" marR="36576" marT="27432" marB="18288" anchor="ctr">
                    <a:solidFill>
                      <a:srgbClr val="13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849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849"/>
                          </a:solidFill>
                          <a:latin typeface="Aptos"/>
                        </a:rPr>
                        <a:t>76.9%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849"/>
                          </a:solidFill>
                          <a:latin typeface="Aptos"/>
                        </a:rPr>
                        <a:t>60.5%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849"/>
                          </a:solidFill>
                          <a:latin typeface="Aptos"/>
                        </a:rPr>
                        <a:t>36.9%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849"/>
                          </a:solidFill>
                          <a:latin typeface="Aptos"/>
                        </a:rPr>
                        <a:t>0.458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849"/>
                          </a:solidFill>
                          <a:latin typeface="Aptos"/>
                        </a:rPr>
                        <a:t>0.810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rgbClr val="2C3849"/>
                          </a:solidFill>
                          <a:latin typeface="Aptos"/>
                        </a:rPr>
                        <a:t>Logistic Reg.</a:t>
                      </a:r>
                    </a:p>
                    <a:p>
                      <a:pPr algn="l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rgbClr val="2C3849"/>
                          </a:solidFill>
                          <a:latin typeface="Aptos"/>
                        </a:rPr>
                        <a:t>76.4%</a:t>
                      </a:r>
                    </a:p>
                    <a:p>
                      <a:pPr algn="ctr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rgbClr val="2C3849"/>
                          </a:solidFill>
                          <a:latin typeface="Aptos"/>
                        </a:rPr>
                        <a:t>58.4%</a:t>
                      </a:r>
                    </a:p>
                    <a:p>
                      <a:pPr algn="ctr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rgbClr val="2C3849"/>
                          </a:solidFill>
                          <a:latin typeface="Aptos"/>
                        </a:rPr>
                        <a:t>39.0%</a:t>
                      </a:r>
                    </a:p>
                    <a:p>
                      <a:pPr algn="ctr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rgbClr val="2C3849"/>
                          </a:solidFill>
                          <a:latin typeface="Aptos"/>
                        </a:rPr>
                        <a:t>0.468</a:t>
                      </a:r>
                    </a:p>
                    <a:p>
                      <a:pPr algn="ctr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dirty="0">
                          <a:solidFill>
                            <a:srgbClr val="2C3849"/>
                          </a:solidFill>
                          <a:latin typeface="Aptos"/>
                        </a:rPr>
                        <a:t>0.813</a:t>
                      </a:r>
                    </a:p>
                    <a:p>
                      <a:pPr algn="ctr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endParaRPr lang="en-GB"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00" b="0" dirty="0">
                        <a:solidFill>
                          <a:srgbClr val="2C3849"/>
                        </a:solidFill>
                        <a:latin typeface="Aptos"/>
                      </a:endParaRP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3233D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54864" marR="36576" marT="27432" marB="18288" anchor="ctr">
                    <a:solidFill>
                      <a:srgbClr val="D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3233D"/>
                          </a:solidFill>
                          <a:latin typeface="Aptos"/>
                        </a:rPr>
                        <a:t>77.4%</a:t>
                      </a:r>
                    </a:p>
                  </a:txBody>
                  <a:tcPr marL="54864" marR="36576" marT="27432" marB="18288" anchor="ctr">
                    <a:solidFill>
                      <a:srgbClr val="D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3233D"/>
                          </a:solidFill>
                          <a:latin typeface="Aptos"/>
                        </a:rPr>
                        <a:t>60.1%</a:t>
                      </a:r>
                    </a:p>
                  </a:txBody>
                  <a:tcPr marL="54864" marR="36576" marT="27432" marB="18288" anchor="ctr">
                    <a:solidFill>
                      <a:srgbClr val="D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3233D"/>
                          </a:solidFill>
                          <a:latin typeface="Aptos"/>
                        </a:rPr>
                        <a:t>43.9%</a:t>
                      </a:r>
                    </a:p>
                  </a:txBody>
                  <a:tcPr marL="54864" marR="36576" marT="27432" marB="18288" anchor="ctr">
                    <a:solidFill>
                      <a:srgbClr val="D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3233D"/>
                          </a:solidFill>
                          <a:latin typeface="Aptos"/>
                        </a:rPr>
                        <a:t>0.507</a:t>
                      </a:r>
                    </a:p>
                  </a:txBody>
                  <a:tcPr marL="54864" marR="36576" marT="27432" marB="18288" anchor="ctr">
                    <a:solidFill>
                      <a:srgbClr val="D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3233D"/>
                          </a:solidFill>
                          <a:latin typeface="Aptos"/>
                        </a:rPr>
                        <a:t>0.808</a:t>
                      </a:r>
                    </a:p>
                  </a:txBody>
                  <a:tcPr marL="54864" marR="36576" marT="27432" marB="18288" anchor="ctr">
                    <a:solidFill>
                      <a:srgbClr val="D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0" y="4279392"/>
            <a:ext cx="6903720" cy="1051560"/>
          </a:xfrm>
          <a:prstGeom prst="roundRect">
            <a:avLst/>
          </a:prstGeom>
          <a:solidFill>
            <a:srgbClr val="D7F4EE"/>
          </a:solidFill>
          <a:ln>
            <a:solidFill>
              <a:srgbClr val="D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4453128"/>
            <a:ext cx="63550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3233D"/>
                </a:solidFill>
                <a:latin typeface="Aptos"/>
              </a:rPr>
              <a:t>Current leading </a:t>
            </a:r>
            <a:r>
              <a:rPr lang="en-US" sz="1600" b="1" i="0" dirty="0">
                <a:solidFill>
                  <a:srgbClr val="13233D"/>
                </a:solidFill>
                <a:latin typeface="Aptos"/>
              </a:rPr>
              <a:t>Algorithm</a:t>
            </a:r>
            <a:r>
              <a:rPr sz="1600" b="1" i="0" dirty="0">
                <a:solidFill>
                  <a:srgbClr val="13233D"/>
                </a:solidFill>
                <a:latin typeface="Aptos"/>
              </a:rPr>
              <a:t>: 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773168"/>
            <a:ext cx="6309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849"/>
                </a:solidFill>
                <a:latin typeface="Aptos"/>
              </a:rPr>
              <a:t>Best test accuracy, recall and F1 in the prior comparison; Logistic Regression had the best ROC-AUC.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80560"/>
            <a:ext cx="3291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D"/>
                </a:solidFill>
                <a:latin typeface="Aptos"/>
              </a:rPr>
              <a:t>Business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864608"/>
            <a:ext cx="37033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849"/>
                </a:solidFill>
                <a:latin typeface="Aptos"/>
              </a:rPr>
              <a:t>Recall of 43.9% means the model identified fewer than half of actual churners at the default threshold. Precision of 60.1% means some flagged customers will not churn.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999"/>
                </a:solidFill>
                <a:latin typeface="Aptos"/>
              </a:rPr>
              <a:t>04 • 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D"/>
                </a:solidFill>
                <a:latin typeface="Aptos"/>
              </a:rPr>
              <a:t>Recommendation: pilot the model, measure 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18520" cy="22860"/>
          </a:xfrm>
          <a:prstGeom prst="rect">
            <a:avLst/>
          </a:prstGeom>
          <a:solidFill>
            <a:srgbClr val="DDE4ED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387"/>
                </a:solidFill>
                <a:latin typeface="Aptos"/>
              </a:rPr>
              <a:t>TELECOM CUSTOMER CHURN  •  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4983480" cy="4389120"/>
          </a:xfrm>
          <a:prstGeom prst="roundRect">
            <a:avLst/>
          </a:prstGeom>
          <a:solidFill>
            <a:srgbClr val="13233D"/>
          </a:solidFill>
          <a:ln>
            <a:solidFill>
              <a:srgbClr val="13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297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2519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 dirty="0">
                <a:solidFill>
                  <a:srgbClr val="D7F4EE"/>
                </a:solidFill>
                <a:latin typeface="Aptos"/>
              </a:rPr>
              <a:t>Use Random Forest as the leading candidate for further validation</a:t>
            </a:r>
            <a:r>
              <a:rPr lang="en-US" sz="1800" b="1" i="0" dirty="0">
                <a:solidFill>
                  <a:srgbClr val="D7F4EE"/>
                </a:solidFill>
                <a:latin typeface="Aptos"/>
              </a:rPr>
              <a:t> but </a:t>
            </a:r>
            <a:r>
              <a:rPr sz="1800" b="1" i="0" dirty="0">
                <a:solidFill>
                  <a:srgbClr val="D7F4EE"/>
                </a:solidFill>
                <a:latin typeface="Aptos"/>
              </a:rPr>
              <a:t>not as an automatic decision-maker.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93008"/>
            <a:ext cx="4251960" cy="12064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400" b="1" dirty="0">
                <a:solidFill>
                  <a:srgbClr val="F4B53F"/>
                </a:solidFill>
                <a:latin typeface="Aptos"/>
              </a:rPr>
              <a:t>• 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Rank:</a:t>
            </a:r>
            <a:r>
              <a:rPr sz="1400" dirty="0">
                <a:solidFill>
                  <a:srgbClr val="FFFFFF"/>
                </a:solidFill>
                <a:latin typeface="Aptos"/>
              </a:rPr>
              <a:t> create a risk-ranked list of customers.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F4B53F"/>
                </a:solidFill>
                <a:latin typeface="Aptos"/>
              </a:rPr>
              <a:t>•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Prioriti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s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e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:</a:t>
            </a:r>
            <a:r>
              <a:rPr sz="1400" dirty="0">
                <a:solidFill>
                  <a:srgbClr val="FFFFFF"/>
                </a:solidFill>
                <a:latin typeface="Aptos"/>
              </a:rPr>
              <a:t> match outreach volume to team capacity.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F4B53F"/>
                </a:solidFill>
                <a:latin typeface="Aptos"/>
              </a:rPr>
              <a:t>• 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Test:</a:t>
            </a:r>
            <a:r>
              <a:rPr sz="1400" dirty="0">
                <a:solidFill>
                  <a:srgbClr val="FFFFFF"/>
                </a:solidFill>
                <a:latin typeface="Aptos"/>
              </a:rPr>
              <a:t> run a controlled pilot and measure retention uplift.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2763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3233D"/>
                </a:solidFill>
                <a:latin typeface="Aptos"/>
              </a:rPr>
              <a:t>Next steps</a:t>
            </a:r>
          </a:p>
        </p:txBody>
      </p:sp>
      <p:sp>
        <p:nvSpPr>
          <p:cNvPr id="11" name="Oval 10"/>
          <p:cNvSpPr/>
          <p:nvPr/>
        </p:nvSpPr>
        <p:spPr>
          <a:xfrm>
            <a:off x="6144768" y="2148840"/>
            <a:ext cx="420624" cy="420624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4768" y="2185416"/>
            <a:ext cx="42062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39696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D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39696"/>
            <a:ext cx="315468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849"/>
                </a:solidFill>
                <a:latin typeface="Aptos"/>
              </a:rPr>
              <a:t>Confirm data-quality counts and rerun all models consistently.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3008376"/>
            <a:ext cx="420624" cy="420624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3044952"/>
            <a:ext cx="42062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999232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D"/>
                </a:solidFill>
                <a:latin typeface="Aptos"/>
              </a:rPr>
              <a:t>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999232"/>
            <a:ext cx="315468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dirty="0">
                <a:solidFill>
                  <a:srgbClr val="2C3849"/>
                </a:solidFill>
                <a:latin typeface="Aptos"/>
              </a:rPr>
              <a:t>Use other features including numerical features and </a:t>
            </a:r>
            <a:r>
              <a:rPr lang="en-US" sz="1100" dirty="0">
                <a:solidFill>
                  <a:srgbClr val="2C3849"/>
                </a:solidFill>
                <a:latin typeface="Aptos"/>
              </a:rPr>
              <a:t>t</a:t>
            </a:r>
            <a:r>
              <a:rPr sz="1100" b="0" i="0" dirty="0">
                <a:solidFill>
                  <a:srgbClr val="2C3849"/>
                </a:solidFill>
                <a:latin typeface="Aptos"/>
              </a:rPr>
              <a:t>une with cross-validation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144768" y="3867912"/>
            <a:ext cx="420624" cy="420624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3904488"/>
            <a:ext cx="42062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858768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D"/>
                </a:solidFill>
                <a:latin typeface="Aptos"/>
              </a:rPr>
              <a:t>Calibrate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58768"/>
            <a:ext cx="315468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2C3849"/>
                </a:solidFill>
                <a:latin typeface="Aptos"/>
              </a:rPr>
              <a:t>Choose a threshold using validation data and retention capacity.</a:t>
            </a:r>
          </a:p>
        </p:txBody>
      </p:sp>
      <p:sp>
        <p:nvSpPr>
          <p:cNvPr id="23" name="Oval 22"/>
          <p:cNvSpPr/>
          <p:nvPr/>
        </p:nvSpPr>
        <p:spPr>
          <a:xfrm>
            <a:off x="6144768" y="4727448"/>
            <a:ext cx="420624" cy="420624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4764024"/>
            <a:ext cx="42062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718304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D"/>
                </a:solidFill>
                <a:latin typeface="Aptos"/>
              </a:rPr>
              <a:t>Prove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718304"/>
            <a:ext cx="315468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2C3849"/>
                </a:solidFill>
                <a:latin typeface="Aptos"/>
              </a:rPr>
              <a:t>Measure contact cost, saved customers, uplift and ROI in a pilot.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7" y="5477256"/>
            <a:ext cx="5361433" cy="722376"/>
          </a:xfrm>
          <a:prstGeom prst="roundRect">
            <a:avLst/>
          </a:prstGeom>
          <a:solidFill>
            <a:srgbClr val="FF0000"/>
          </a:solidFill>
          <a:ln>
            <a:solidFill>
              <a:srgbClr val="FFF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91072" y="5664237"/>
            <a:ext cx="48006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 dirty="0">
                <a:solidFill>
                  <a:srgbClr val="13233D"/>
                </a:solidFill>
                <a:latin typeface="Aptos"/>
              </a:rPr>
              <a:t>Key risks: missed churners, unnecessary offers, data drift and unproven intervention impact.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99632"/>
            <a:ext cx="108813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009999"/>
                </a:solidFill>
                <a:latin typeface="Aptos"/>
              </a:rPr>
              <a:t>Success is not just predictive accuracy: it is measurable, cost-effective reduction in churn.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746</Words>
  <Application>Microsoft Office PowerPoint</Application>
  <PresentationFormat>Widescreen</PresentationFormat>
  <Paragraphs>108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Prediction — Business Briefing</dc:title>
  <dc:subject>Five-slide business presentation on churn prediction</dc:subject>
  <dc:creator>OpenAI</dc:creator>
  <cp:keywords>telecom, churn, machine learning, retention, business analytics</cp:keywords>
  <dc:description>generated using python-pptx</dc:description>
  <cp:lastModifiedBy>Akinlolu Oyetakin</cp:lastModifiedBy>
  <cp:revision>2</cp:revision>
  <dcterms:created xsi:type="dcterms:W3CDTF">2013-01-27T09:14:16Z</dcterms:created>
  <dcterms:modified xsi:type="dcterms:W3CDTF">2026-10-12T09:57:46Z</dcterms:modified>
  <cp:category/>
</cp:coreProperties>
</file>